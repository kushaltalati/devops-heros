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04aecb9-0ea3-7168-e1a9-9d72e50790d0}">
          <p14:sldIdLst>
            <p14:sldId id="256"/>
          </p14:sldIdLst>
        </p14:section>
        <p14:section name="The application" id="{76860bf8-7b3f-d72e-a643-5fb181f89a39}">
          <p14:sldIdLst>
            <p14:sldId id="257"/>
            <p14:sldId id="258"/>
          </p14:sldIdLst>
        </p14:section>
        <p14:section name="Build" id="{b32be04a-1403-2342-49a5-0afcc999a8eb}">
          <p14:sldIdLst>
            <p14:sldId id="259"/>
            <p14:sldId id="260"/>
          </p14:sldIdLst>
        </p14:section>
        <p14:section name="Ship" id="{cde0dde8-5a21-d045-3f1f-c0dd0c3a7780}">
          <p14:sldIdLst>
            <p14:sldId id="261"/>
            <p14:sldId id="262"/>
            <p14:sldId id="263"/>
          </p14:sldIdLst>
        </p14:section>
        <p14:section name="Run" id="{8f42b528-0a1d-9e69-381b-f1771ee78076}">
          <p14:sldIdLst>
            <p14:sldId id="264"/>
            <p14:sldId id="265"/>
            <p14:sldId id="266"/>
            <p14:sldId id="267"/>
          </p14:sldIdLst>
        </p14:section>
        <p14:section name="Closing" id="{f1a471b6-6e7e-9627-893d-d0c97a328cc1}">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E1726"/>
                </a:solidFill>
                <a:latin typeface="+mn-lt"/>
              </a:defRPr>
            </a:pPr>
            <a:r>
              <a:rPr sz="1100" b="0" i="0" u="none" strike="noStrike">
                <a:solidFill>
                  <a:srgbClr val="0E1726"/>
                </a:solidFill>
                <a:latin typeface="+mn-lt"/>
              </a:rPr>
              <a:t>load-test.sh: 16 curl loops for 180 s</a:t>
            </a:r>
          </a:p>
        </c:rich>
      </c:tx>
      <c:layout/>
      <c:overlay val="0"/>
    </c:title>
    <c:autoTitleDeleted val="0"/>
    <c:plotArea>
      <c:layout/>
      <c:lineChart>
        <c:varyColors val="0"/>
        <c:ser>
          <c:idx val="0"/>
          <c:order val="0"/>
          <c:tx>
            <c:strRef>
              <c:f>Sheet1!$B$1</c:f>
              <c:strCache>
                <c:ptCount val="1"/>
                <c:pt idx="0">
                  <c:v>backend CPU, % of 100m request</c:v>
                </c:pt>
              </c:strCache>
            </c:strRef>
          </c:tx>
          <c:spPr>
            <a:solidFill>
              <a:srgbClr val="3B6EA5"/>
            </a:solidFill>
            <a:ln w="31750" cap="flat">
              <a:solidFill>
                <a:srgbClr val="3B6EA5"/>
              </a:solidFill>
              <a:prstDash val="solid"/>
              <a:round/>
            </a:ln>
            <a:effectLst/>
          </c:spPr>
          <c:invertIfNegative val="0"/>
          <c:dLbls>
            <c:numFmt formatCode="#,##0" sourceLinked="0"/>
            <c:txPr>
              <a:bodyPr/>
              <a:lstStyle/>
              <a:p>
                <a:pPr>
                  <a:defRPr b="0" i="0" strike="noStrike" sz="900" u="none">
                    <a:solidFill>
                      <a:srgbClr val="4A5568"/>
                    </a:solidFill>
                    <a:latin typeface="+mn-lt"/>
                  </a:defRPr>
                </a:pPr>
              </a:p>
            </c:txPr>
            <c:dLblPos val="t"/>
            <c:showLegendKey val="0"/>
            <c:showVal val="1"/>
            <c:showCatName val="0"/>
            <c:showSerName val="0"/>
            <c:showPercent val="0"/>
            <c:showBubbleSize val="0"/>
            <c:showLeaderLines val="0"/>
          </c:dLbls>
          <c:marker>
            <c:symbol val="circle"/>
            <c:size val="7"/>
            <c:spPr>
              <a:solidFill>
                <a:srgbClr val="3B6EA5"/>
              </a:solidFill>
              <a:ln w="9525" cap="flat">
                <a:solidFill>
                  <a:srgbClr val="3B6EA5"/>
                </a:solidFill>
                <a:prstDash val="solid"/>
                <a:round/>
              </a:ln>
              <a:effectLst/>
            </c:spPr>
          </c:marker>
          <c:cat>
            <c:multiLvlStrRef>
              <c:f>Sheet1!$A$2:$A$6</c:f>
              <c:multiLvlStrCache>
                <c:ptCount val="5"/>
                <c:lvl>
                  <c:pt idx="0">
                    <c:v>idle</c:v>
                  </c:pt>
                  <c:pt idx="1">
                    <c:v>+15 s</c:v>
                  </c:pt>
                  <c:pt idx="2">
                    <c:v>+30 s</c:v>
                  </c:pt>
                  <c:pt idx="3">
                    <c:v>+60 s</c:v>
                  </c:pt>
                  <c:pt idx="4">
                    <c:v>load off</c:v>
                  </c:pt>
                </c:lvl>
              </c:multiLvlStrCache>
            </c:multiLvlStrRef>
          </c:cat>
          <c:val>
            <c:numRef>
              <c:f>Sheet1!$B$2:$B$6</c:f>
              <c:numCache>
                <c:formatCode>General</c:formatCode>
                <c:ptCount val="5"/>
                <c:pt idx="0">
                  <c:v>4</c:v>
                </c:pt>
                <c:pt idx="1">
                  <c:v>242</c:v>
                </c:pt>
                <c:pt idx="2">
                  <c:v>463</c:v>
                </c:pt>
                <c:pt idx="3">
                  <c:v>160</c:v>
                </c:pt>
                <c:pt idx="4">
                  <c:v>11</c:v>
                </c:pt>
              </c:numCache>
            </c:numRef>
          </c:val>
          <c:smooth val="0"/>
        </c:ser>
        <c:ser>
          <c:idx val="1"/>
          <c:order val="1"/>
          <c:tx>
            <c:strRef>
              <c:f>Sheet1!$C$1</c:f>
              <c:strCache>
                <c:ptCount val="1"/>
                <c:pt idx="0">
                  <c:v>HPA target 50%</c:v>
                </c:pt>
              </c:strCache>
            </c:strRef>
          </c:tx>
          <c:spPr>
            <a:solidFill>
              <a:srgbClr val="D9534F"/>
            </a:solidFill>
            <a:ln w="31750" cap="flat">
              <a:solidFill>
                <a:srgbClr val="D9534F"/>
              </a:solidFill>
              <a:prstDash val="solid"/>
              <a:round/>
            </a:ln>
            <a:effectLst/>
          </c:spPr>
          <c:invertIfNegative val="0"/>
          <c:dLbls>
            <c:numFmt formatCode="#,##0" sourceLinked="0"/>
            <c:txPr>
              <a:bodyPr/>
              <a:lstStyle/>
              <a:p>
                <a:pPr>
                  <a:defRPr b="0" i="0" strike="noStrike" sz="900" u="none">
                    <a:solidFill>
                      <a:srgbClr val="4A5568"/>
                    </a:solidFill>
                    <a:latin typeface="+mn-lt"/>
                  </a:defRPr>
                </a:pPr>
              </a:p>
            </c:txPr>
            <c:dLblPos val="t"/>
            <c:showLegendKey val="0"/>
            <c:showVal val="1"/>
            <c:showCatName val="0"/>
            <c:showSerName val="0"/>
            <c:showPercent val="0"/>
            <c:showBubbleSize val="0"/>
            <c:showLeaderLines val="0"/>
          </c:dLbls>
          <c:marker>
            <c:symbol val="circle"/>
            <c:size val="7"/>
            <c:spPr>
              <a:solidFill>
                <a:srgbClr val="D9534F"/>
              </a:solidFill>
              <a:ln w="9525" cap="flat">
                <a:solidFill>
                  <a:srgbClr val="D9534F"/>
                </a:solidFill>
                <a:prstDash val="solid"/>
                <a:round/>
              </a:ln>
              <a:effectLst/>
            </c:spPr>
          </c:marker>
          <c:cat>
            <c:multiLvlStrRef>
              <c:f>Sheet1!$A$2:$A$6</c:f>
              <c:multiLvlStrCache>
                <c:ptCount val="5"/>
                <c:lvl>
                  <c:pt idx="0">
                    <c:v>idle</c:v>
                  </c:pt>
                  <c:pt idx="1">
                    <c:v>+15 s</c:v>
                  </c:pt>
                  <c:pt idx="2">
                    <c:v>+30 s</c:v>
                  </c:pt>
                  <c:pt idx="3">
                    <c:v>+60 s</c:v>
                  </c:pt>
                  <c:pt idx="4">
                    <c:v>load off</c:v>
                  </c:pt>
                </c:lvl>
              </c:multiLvlStrCache>
            </c:multiLvlStrRef>
          </c:cat>
          <c:val>
            <c:numRef>
              <c:f>Sheet1!$C$2:$C$6</c:f>
              <c:numCache>
                <c:formatCode>General</c:formatCode>
                <c:ptCount val="5"/>
                <c:pt idx="0">
                  <c:v>50</c:v>
                </c:pt>
                <c:pt idx="1">
                  <c:v>50</c:v>
                </c:pt>
                <c:pt idx="2">
                  <c:v>50</c:v>
                </c:pt>
                <c:pt idx="3">
                  <c:v>50</c:v>
                </c:pt>
                <c:pt idx="4">
                  <c:v>50</c:v>
                </c:pt>
              </c:numCache>
            </c:numRef>
          </c:val>
          <c:smooth val="0"/>
        </c:ser>
        <c:dLbls>
          <c:numFmt formatCode="#,##0" sourceLinked="0"/>
          <c:txPr>
            <a:bodyPr/>
            <a:lstStyle/>
            <a:p>
              <a:pPr>
                <a:defRPr b="0" i="0" strike="noStrike" sz="900" u="none">
                  <a:solidFill>
                    <a:srgbClr val="4A5568"/>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500"/>
        </c:scaling>
        <c:delete val="0"/>
        <c:axPos val="l"/>
        <c:majorGridlines>
          <c:spPr>
            <a:ln w="9525" cap="flat">
              <a:solidFill>
                <a:srgbClr val="F1F4F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Kushal Talati, 24BCS10123. StudyTrack is my final project: my own application (a study log), taken through every DevOps layer the course covered. Everything in this deck was really run; the raw logs and screenshots are in the repo under docs/outputs and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itself is deliberately small so the DevOps layer is the point. One table, study_entries, seven endpoints, a React dashboard. The screenshot is the compose stack running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along the top: a push runs the gates, builds both images for amd64 and arm64, Trivy can fail the pipeline, and the last job only edits image.tag in values.yaml and commits. Argo CD watches that path and syncs the cluster. The cluster is the same kind cluster I used from session 9 onwards.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endpoints, one table. The readiness endpoint really touches the database, which matters later in the troubleshooting scenario. Configuration is environment variables only, so the same image runs under compose and under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run against SQLite in memory so the CI job is fast and needs no database service. Both images are non-root, which is why nginx listens on 8080 instead of 80. The compose volume proves the data is outside the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is a fan-out and fan-in: tests first, four independent gates, then one build, Trivy per image, and the deploy job that only edits git. Every red run in the history taught me something, and the green run is linked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care about most. The SCA gate really fired on starlette, and Trivy really forced a base image bump. Both would have shipped silently without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Infrastructure code must be portable to be testable. The whole apply and destroy cycle ran against LocalStack with one variable, and the EKS module is planned with create_eks=true but not applied, and I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app served through the Ingress hostname. Right: the HPA load test – CPU per pod went from 4 percent of request to over 460 percent, the HPA scaled from two to six pods in one sync period, and scaled back after the load stopped. The chart has the real numbers from the kubectl get hpa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application and business metrics; the ServiceMonitor is part of the Helm chart so kube-prometheus-stack picks the pods up automatically. The numbers are from a 70 second load test; the Grafana dashboard JSON is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M10 live demo flow, and it already ran for real: my commit, the green pipeline, the deploy commit the pipeline wrote, Argo CD picking it up, and both Deployments on the new image with the data intact. In the demo I will repeat the same loop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scenarios from the course and one of my own. In the demo I break the image tag live and fix it. The method never changes: get, describe, logs, exec, one change,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I would not have understood from slides alone. Each one came from something that actually broke or actually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Everything runs on the same kind cluster the earlier sessions used; the raw logs under docs/outputs back every step. Thank you –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E17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697480"/>
            <a:ext cx="804672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txBox="1"/>
          <p:nvPr/>
        </p:nvSpPr>
        <p:spPr>
          <a:xfrm>
            <a:off x="457200" y="4754880"/>
            <a:ext cx="5943600" cy="274320"/>
          </a:xfrm>
          <a:prstGeom prst="rect">
            <a:avLst/>
          </a:prstGeom>
          <a:noFill/>
          <a:ln/>
        </p:spPr>
        <p:txBody>
          <a:bodyPr wrap="square" lIns="0" tIns="0" rIns="0" bIns="0" rtlCol="0" anchor="ctr"/>
          <a:lstStyle/>
          <a:p>
            <a:pPr indent="0" marL="0">
              <a:buNone/>
            </a:pPr>
            <a:r>
              <a:rPr lang="en-US" sz="900" dirty="0">
                <a:solidFill>
                  <a:schemeClr val="tx2"/>
                </a:solidFill>
              </a:rPr>
              <a:t>StudyTrack  ·  Kushal Talati  ·  24BCS10123  ·  Session 21</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E17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3" name="Text 0"/>
          <p:cNvSpPr txBox="1"/>
          <p:nvPr/>
        </p:nvSpPr>
        <p:spPr>
          <a:xfrm>
            <a:off x="457200" y="4754880"/>
            <a:ext cx="5943600" cy="274320"/>
          </a:xfrm>
          <a:prstGeom prst="rect">
            <a:avLst/>
          </a:prstGeom>
          <a:noFill/>
          <a:ln/>
        </p:spPr>
        <p:txBody>
          <a:bodyPr wrap="square" lIns="0" tIns="0" rIns="0" bIns="0" rtlCol="0" anchor="ctr"/>
          <a:lstStyle/>
          <a:p>
            <a:pPr indent="0" marL="0">
              <a:buNone/>
            </a:pPr>
            <a:r>
              <a:rPr lang="en-US" sz="900" dirty="0">
                <a:solidFill>
                  <a:schemeClr val="bg2"/>
                </a:solidFill>
              </a:rPr>
              <a:t>StudyTrack  ·  Kushal Talati  ·  24BCS10123  ·  Session 21</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F1F4F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400" b="1" dirty="0">
                <a:solidFill>
                  <a:schemeClr val="bg1"/>
                </a:solidFill>
              </a:rPr>
              <a:t>StudyTrack</a:t>
            </a:r>
            <a:endParaRPr lang="en-US" sz="4400" dirty="0"/>
          </a:p>
        </p:txBody>
      </p:sp>
      <p:sp>
        <p:nvSpPr>
          <p:cNvPr id="3" name="Text 0"/>
          <p:cNvSpPr/>
          <p:nvPr>
            <p:ph idx="101" type="body" hasCustomPrompt="1"/>
          </p:nvPr>
        </p:nvSpPr>
        <p:spPr>
          <a:xfrm>
            <a:off x="548640" y="2697480"/>
            <a:ext cx="8046720" cy="1097280"/>
          </a:xfrm>
          <a:prstGeom prst="rect">
            <a:avLst/>
          </a:prstGeom>
          <a:noFill/>
          <a:ln/>
        </p:spPr>
        <p:txBody>
          <a:bodyPr wrap="square" lIns="0" tIns="0" rIns="0" bIns="0" rtlCol="0" anchor="t"/>
          <a:lstStyle/>
          <a:p>
            <a:pPr algn="l" indent="0" marL="0">
              <a:buNone/>
            </a:pPr>
            <a:r>
              <a:rPr lang="en-US" sz="1800" b="1" dirty="0">
                <a:solidFill>
                  <a:schemeClr val="accent1"/>
                </a:solidFill>
              </a:rPr>
              <a:t>Final DevOps project – Session 21</a:t>
            </a:r>
            <a:endParaRPr lang="en-US" sz="1800" dirty="0"/>
          </a:p>
          <a:p>
            <a:pPr algn="l" indent="0" marL="0">
              <a:buNone/>
            </a:pPr>
            <a:r>
              <a:rPr lang="en-US" sz="1800" dirty="0">
                <a:solidFill>
                  <a:schemeClr val="bg2"/>
                </a:solidFill>
              </a:rPr>
              <a:t>A study log shipped end to end: FastAPI + PostgreSQL + React → tests → Docker → GitHub Actions → GHCR → Terraform → Kubernetes/Helm → Argo CD → Prometheus/Grafana</a:t>
            </a:r>
            <a:endParaRPr lang="en-US" sz="1800" dirty="0"/>
          </a:p>
        </p:txBody>
      </p:sp>
      <p:sp>
        <p:nvSpPr>
          <p:cNvPr id="4" name="author"/>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chemeClr val="bg2"/>
                </a:solidFill>
              </a:rPr>
              <a:t>Kushal Talati  ·  24BCS10123  ·  github.com/kushaltalati/devops-heros</a:t>
            </a:r>
            <a:endParaRPr lang="en-US" sz="1300" dirty="0"/>
          </a:p>
        </p:txBody>
      </p:sp>
      <p:sp>
        <p:nvSpPr>
          <p:cNvPr id="5" name="tag M1"/>
          <p:cNvSpPr/>
          <p:nvPr/>
        </p:nvSpPr>
        <p:spPr>
          <a:xfrm>
            <a:off x="548640" y="685800"/>
            <a:ext cx="384048" cy="384048"/>
          </a:xfrm>
          <a:prstGeom prst="ellipse">
            <a:avLst/>
          </a:prstGeom>
          <a:solidFill>
            <a:srgbClr val="E59F2B"/>
          </a:solidFill>
          <a:ln w="12700">
            <a:solidFill>
              <a:srgbClr val="E59F2B"/>
            </a:solidFill>
            <a:prstDash val="solid"/>
          </a:ln>
        </p:spPr>
      </p:sp>
      <p:sp>
        <p:nvSpPr>
          <p:cNvPr id="6" name="tag label M1"/>
          <p:cNvSpPr txBox="1"/>
          <p:nvPr/>
        </p:nvSpPr>
        <p:spPr>
          <a:xfrm>
            <a:off x="548640"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M1</a:t>
            </a:r>
            <a:endParaRPr lang="en-US" sz="1100" dirty="0"/>
          </a:p>
        </p:txBody>
      </p:sp>
      <p:sp>
        <p:nvSpPr>
          <p:cNvPr id="7" name="tag M2"/>
          <p:cNvSpPr/>
          <p:nvPr/>
        </p:nvSpPr>
        <p:spPr>
          <a:xfrm>
            <a:off x="1024128" y="685800"/>
            <a:ext cx="384048" cy="384048"/>
          </a:xfrm>
          <a:prstGeom prst="ellipse">
            <a:avLst/>
          </a:prstGeom>
          <a:solidFill>
            <a:srgbClr val="1FA68F"/>
          </a:solidFill>
          <a:ln w="12700">
            <a:solidFill>
              <a:srgbClr val="1FA68F"/>
            </a:solidFill>
            <a:prstDash val="solid"/>
          </a:ln>
        </p:spPr>
      </p:sp>
      <p:sp>
        <p:nvSpPr>
          <p:cNvPr id="8" name="tag label M2"/>
          <p:cNvSpPr txBox="1"/>
          <p:nvPr/>
        </p:nvSpPr>
        <p:spPr>
          <a:xfrm>
            <a:off x="1024128"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M2</a:t>
            </a:r>
            <a:endParaRPr lang="en-US" sz="1100" dirty="0"/>
          </a:p>
        </p:txBody>
      </p:sp>
      <p:sp>
        <p:nvSpPr>
          <p:cNvPr id="9" name="tag M3"/>
          <p:cNvSpPr/>
          <p:nvPr/>
        </p:nvSpPr>
        <p:spPr>
          <a:xfrm>
            <a:off x="1499616" y="685800"/>
            <a:ext cx="384048" cy="384048"/>
          </a:xfrm>
          <a:prstGeom prst="ellipse">
            <a:avLst/>
          </a:prstGeom>
          <a:solidFill>
            <a:srgbClr val="E59F2B"/>
          </a:solidFill>
          <a:ln w="12700">
            <a:solidFill>
              <a:srgbClr val="E59F2B"/>
            </a:solidFill>
            <a:prstDash val="solid"/>
          </a:ln>
        </p:spPr>
      </p:sp>
      <p:sp>
        <p:nvSpPr>
          <p:cNvPr id="10" name="tag label M3"/>
          <p:cNvSpPr txBox="1"/>
          <p:nvPr/>
        </p:nvSpPr>
        <p:spPr>
          <a:xfrm>
            <a:off x="1499616"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M3</a:t>
            </a:r>
            <a:endParaRPr lang="en-US" sz="1100" dirty="0"/>
          </a:p>
        </p:txBody>
      </p:sp>
      <p:sp>
        <p:nvSpPr>
          <p:cNvPr id="11" name="tag M4"/>
          <p:cNvSpPr/>
          <p:nvPr/>
        </p:nvSpPr>
        <p:spPr>
          <a:xfrm>
            <a:off x="1975104" y="685800"/>
            <a:ext cx="384048" cy="384048"/>
          </a:xfrm>
          <a:prstGeom prst="ellipse">
            <a:avLst/>
          </a:prstGeom>
          <a:solidFill>
            <a:srgbClr val="1FA68F"/>
          </a:solidFill>
          <a:ln w="12700">
            <a:solidFill>
              <a:srgbClr val="1FA68F"/>
            </a:solidFill>
            <a:prstDash val="solid"/>
          </a:ln>
        </p:spPr>
      </p:sp>
      <p:sp>
        <p:nvSpPr>
          <p:cNvPr id="12" name="tag label M4"/>
          <p:cNvSpPr txBox="1"/>
          <p:nvPr/>
        </p:nvSpPr>
        <p:spPr>
          <a:xfrm>
            <a:off x="1975104"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M4</a:t>
            </a:r>
            <a:endParaRPr lang="en-US" sz="1100" dirty="0"/>
          </a:p>
        </p:txBody>
      </p:sp>
      <p:sp>
        <p:nvSpPr>
          <p:cNvPr id="13" name="tag M5"/>
          <p:cNvSpPr/>
          <p:nvPr/>
        </p:nvSpPr>
        <p:spPr>
          <a:xfrm>
            <a:off x="2450592" y="685800"/>
            <a:ext cx="384048" cy="384048"/>
          </a:xfrm>
          <a:prstGeom prst="ellipse">
            <a:avLst/>
          </a:prstGeom>
          <a:solidFill>
            <a:srgbClr val="E59F2B"/>
          </a:solidFill>
          <a:ln w="12700">
            <a:solidFill>
              <a:srgbClr val="E59F2B"/>
            </a:solidFill>
            <a:prstDash val="solid"/>
          </a:ln>
        </p:spPr>
      </p:sp>
      <p:sp>
        <p:nvSpPr>
          <p:cNvPr id="14" name="tag label M5"/>
          <p:cNvSpPr txBox="1"/>
          <p:nvPr/>
        </p:nvSpPr>
        <p:spPr>
          <a:xfrm>
            <a:off x="2450592"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M5</a:t>
            </a:r>
            <a:endParaRPr lang="en-US" sz="1100" dirty="0"/>
          </a:p>
        </p:txBody>
      </p:sp>
      <p:sp>
        <p:nvSpPr>
          <p:cNvPr id="15" name="tag M6"/>
          <p:cNvSpPr/>
          <p:nvPr/>
        </p:nvSpPr>
        <p:spPr>
          <a:xfrm>
            <a:off x="2926080" y="685800"/>
            <a:ext cx="384048" cy="384048"/>
          </a:xfrm>
          <a:prstGeom prst="ellipse">
            <a:avLst/>
          </a:prstGeom>
          <a:solidFill>
            <a:srgbClr val="1FA68F"/>
          </a:solidFill>
          <a:ln w="12700">
            <a:solidFill>
              <a:srgbClr val="1FA68F"/>
            </a:solidFill>
            <a:prstDash val="solid"/>
          </a:ln>
        </p:spPr>
      </p:sp>
      <p:sp>
        <p:nvSpPr>
          <p:cNvPr id="16" name="tag label M6"/>
          <p:cNvSpPr txBox="1"/>
          <p:nvPr/>
        </p:nvSpPr>
        <p:spPr>
          <a:xfrm>
            <a:off x="2926080"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M6</a:t>
            </a:r>
            <a:endParaRPr lang="en-US" sz="1100" dirty="0"/>
          </a:p>
        </p:txBody>
      </p:sp>
      <p:sp>
        <p:nvSpPr>
          <p:cNvPr id="17" name="tag M7"/>
          <p:cNvSpPr/>
          <p:nvPr/>
        </p:nvSpPr>
        <p:spPr>
          <a:xfrm>
            <a:off x="3401568" y="685800"/>
            <a:ext cx="384048" cy="384048"/>
          </a:xfrm>
          <a:prstGeom prst="ellipse">
            <a:avLst/>
          </a:prstGeom>
          <a:solidFill>
            <a:srgbClr val="E59F2B"/>
          </a:solidFill>
          <a:ln w="12700">
            <a:solidFill>
              <a:srgbClr val="E59F2B"/>
            </a:solidFill>
            <a:prstDash val="solid"/>
          </a:ln>
        </p:spPr>
      </p:sp>
      <p:sp>
        <p:nvSpPr>
          <p:cNvPr id="18" name="tag label M7"/>
          <p:cNvSpPr txBox="1"/>
          <p:nvPr/>
        </p:nvSpPr>
        <p:spPr>
          <a:xfrm>
            <a:off x="3401568"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M7</a:t>
            </a:r>
            <a:endParaRPr lang="en-US" sz="1100" dirty="0"/>
          </a:p>
        </p:txBody>
      </p:sp>
      <p:sp>
        <p:nvSpPr>
          <p:cNvPr id="19" name="tag M8"/>
          <p:cNvSpPr/>
          <p:nvPr/>
        </p:nvSpPr>
        <p:spPr>
          <a:xfrm>
            <a:off x="3877056" y="685800"/>
            <a:ext cx="384048" cy="384048"/>
          </a:xfrm>
          <a:prstGeom prst="ellipse">
            <a:avLst/>
          </a:prstGeom>
          <a:solidFill>
            <a:srgbClr val="1FA68F"/>
          </a:solidFill>
          <a:ln w="12700">
            <a:solidFill>
              <a:srgbClr val="1FA68F"/>
            </a:solidFill>
            <a:prstDash val="solid"/>
          </a:ln>
        </p:spPr>
      </p:sp>
      <p:sp>
        <p:nvSpPr>
          <p:cNvPr id="20" name="tag label M8"/>
          <p:cNvSpPr txBox="1"/>
          <p:nvPr/>
        </p:nvSpPr>
        <p:spPr>
          <a:xfrm>
            <a:off x="3877056"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M8</a:t>
            </a:r>
            <a:endParaRPr lang="en-US" sz="1100" dirty="0"/>
          </a:p>
        </p:txBody>
      </p:sp>
      <p:sp>
        <p:nvSpPr>
          <p:cNvPr id="21" name="tag M9"/>
          <p:cNvSpPr/>
          <p:nvPr/>
        </p:nvSpPr>
        <p:spPr>
          <a:xfrm>
            <a:off x="4352544" y="685800"/>
            <a:ext cx="384048" cy="384048"/>
          </a:xfrm>
          <a:prstGeom prst="ellipse">
            <a:avLst/>
          </a:prstGeom>
          <a:solidFill>
            <a:srgbClr val="E59F2B"/>
          </a:solidFill>
          <a:ln w="12700">
            <a:solidFill>
              <a:srgbClr val="E59F2B"/>
            </a:solidFill>
            <a:prstDash val="solid"/>
          </a:ln>
        </p:spPr>
      </p:sp>
      <p:sp>
        <p:nvSpPr>
          <p:cNvPr id="22" name="tag label M9"/>
          <p:cNvSpPr txBox="1"/>
          <p:nvPr/>
        </p:nvSpPr>
        <p:spPr>
          <a:xfrm>
            <a:off x="4352544"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M9</a:t>
            </a:r>
            <a:endParaRPr lang="en-US" sz="1100" dirty="0"/>
          </a:p>
        </p:txBody>
      </p:sp>
      <p:sp>
        <p:nvSpPr>
          <p:cNvPr id="23" name="tag M10"/>
          <p:cNvSpPr/>
          <p:nvPr/>
        </p:nvSpPr>
        <p:spPr>
          <a:xfrm>
            <a:off x="4828032" y="685800"/>
            <a:ext cx="384048" cy="384048"/>
          </a:xfrm>
          <a:prstGeom prst="ellipse">
            <a:avLst/>
          </a:prstGeom>
          <a:solidFill>
            <a:srgbClr val="1FA68F"/>
          </a:solidFill>
          <a:ln w="12700">
            <a:solidFill>
              <a:srgbClr val="1FA68F"/>
            </a:solidFill>
            <a:prstDash val="solid"/>
          </a:ln>
        </p:spPr>
      </p:sp>
      <p:sp>
        <p:nvSpPr>
          <p:cNvPr id="24" name="tag label M10"/>
          <p:cNvSpPr txBox="1"/>
          <p:nvPr/>
        </p:nvSpPr>
        <p:spPr>
          <a:xfrm>
            <a:off x="4828032" y="68580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M10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StudyTrack: a study log with a daily goal</a:t>
            </a:r>
            <a:endParaRPr lang="en-US" sz="2600" dirty="0"/>
          </a:p>
        </p:txBody>
      </p:sp>
      <p:sp>
        <p:nvSpPr>
          <p:cNvPr id="3" name="frame 01-compose-frontend-localhost-3000.png"/>
          <p:cNvSpPr/>
          <p:nvPr/>
        </p:nvSpPr>
        <p:spPr>
          <a:xfrm>
            <a:off x="4517136" y="1042416"/>
            <a:ext cx="4224528" cy="2761488"/>
          </a:xfrm>
          <a:prstGeom prst="roundRect">
            <a:avLst>
              <a:gd name="adj" fmla="val 2649"/>
            </a:avLst>
          </a:prstGeom>
          <a:solidFill>
            <a:srgbClr val="0E1726"/>
          </a:solidFill>
          <a:ln w="12700">
            <a:solidFill>
              <a:srgbClr val="0E1726"/>
            </a:solidFill>
            <a:prstDash val="solid"/>
          </a:ln>
          <a:effectLst>
            <a:outerShdw sx="100000" sy="100000" kx="0" ky="0" algn="bl" rotWithShape="0" blurRad="76200" dist="25400" dir="5400000">
              <a:srgbClr val="000000">
                <a:alpha val="25000"/>
              </a:srgbClr>
            </a:outerShdw>
          </a:effectLst>
        </p:spPr>
      </p:sp>
      <p:pic>
        <p:nvPicPr>
          <p:cNvPr id="4" name="screenshot 01-compose-frontend-localhost-3000.png" descr="/Users/kushalscaler/devops-heros/session21-python/kushal-24bcs10123/screenshots/01-compose-frontend-localhost-3000.png">    </p:cNvPr>
          <p:cNvPicPr>
            <a:picLocks noChangeAspect="1"/>
          </p:cNvPicPr>
          <p:nvPr/>
        </p:nvPicPr>
        <p:blipFill>
          <a:blip r:embed="rId1"/>
          <a:stretch>
            <a:fillRect/>
          </a:stretch>
        </p:blipFill>
        <p:spPr>
          <a:xfrm>
            <a:off x="4572000" y="1097280"/>
            <a:ext cx="4114800" cy="2651760"/>
          </a:xfrm>
          <a:prstGeom prst="rect">
            <a:avLst/>
          </a:prstGeom>
        </p:spPr>
      </p:pic>
      <p:sp>
        <p:nvSpPr>
          <p:cNvPr id="5" name="intro"/>
          <p:cNvSpPr txBox="1"/>
          <p:nvPr/>
        </p:nvSpPr>
        <p:spPr>
          <a:xfrm>
            <a:off x="457200" y="1097280"/>
            <a:ext cx="3840480" cy="164592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Record blocks of study time – subject, topic, minutes, status – mark them done, and watch the dashboard: total minutes, progress against a daily goal, per-subject breakdown.</a:t>
            </a:r>
            <a:endParaRPr lang="en-US" sz="1400" dirty="0"/>
          </a:p>
          <a:p>
            <a:pPr indent="0" marL="0">
              <a:buNone/>
            </a:pPr>
            <a:r>
              <a:rPr lang="en-US" sz="1400" dirty="0">
                <a:solidFill>
                  <a:schemeClr val="tx2"/>
                </a:solidFill>
              </a:rPr>
              <a:t>Same shape as the course's TaskBoard reference (FastAPI + PostgreSQL + React, one resource with full CRUD) – but my own domain, code and schema.</a:t>
            </a:r>
            <a:endParaRPr lang="en-US" sz="1400" dirty="0"/>
          </a:p>
        </p:txBody>
      </p:sp>
      <p:sp>
        <p:nvSpPr>
          <p:cNvPr id="6" name="stat REST endpoints"/>
          <p:cNvSpPr txBox="1"/>
          <p:nvPr/>
        </p:nvSpPr>
        <p:spPr>
          <a:xfrm>
            <a:off x="457200" y="2834640"/>
            <a:ext cx="1188720" cy="731520"/>
          </a:xfrm>
          <a:prstGeom prst="rect">
            <a:avLst/>
          </a:prstGeom>
          <a:noFill/>
          <a:ln/>
        </p:spPr>
        <p:txBody>
          <a:bodyPr wrap="square" lIns="0" tIns="0" rIns="0" bIns="0" rtlCol="0" anchor="b"/>
          <a:lstStyle/>
          <a:p>
            <a:pPr algn="l" indent="0" marL="0">
              <a:buNone/>
            </a:pPr>
            <a:r>
              <a:rPr lang="en-US" sz="4000" b="1" dirty="0">
                <a:solidFill>
                  <a:schemeClr val="accent1"/>
                </a:solidFill>
              </a:rPr>
              <a:t>7</a:t>
            </a:r>
            <a:endParaRPr lang="en-US" sz="4000" dirty="0"/>
          </a:p>
        </p:txBody>
      </p:sp>
      <p:sp>
        <p:nvSpPr>
          <p:cNvPr id="7" name="stat label REST endpoints"/>
          <p:cNvSpPr txBox="1"/>
          <p:nvPr/>
        </p:nvSpPr>
        <p:spPr>
          <a:xfrm>
            <a:off x="457200" y="3584448"/>
            <a:ext cx="1188720" cy="411480"/>
          </a:xfrm>
          <a:prstGeom prst="rect">
            <a:avLst/>
          </a:prstGeom>
          <a:noFill/>
          <a:ln/>
        </p:spPr>
        <p:txBody>
          <a:bodyPr wrap="square" lIns="0" tIns="0" rIns="0" bIns="0" rtlCol="0" anchor="t"/>
          <a:lstStyle/>
          <a:p>
            <a:pPr algn="l" indent="0" marL="0">
              <a:buNone/>
            </a:pPr>
            <a:r>
              <a:rPr lang="en-US" sz="1100" dirty="0">
                <a:solidFill>
                  <a:schemeClr val="tx2"/>
                </a:solidFill>
              </a:rPr>
              <a:t>REST endpoints</a:t>
            </a:r>
            <a:endParaRPr lang="en-US" sz="1100" dirty="0"/>
          </a:p>
        </p:txBody>
      </p:sp>
      <p:sp>
        <p:nvSpPr>
          <p:cNvPr id="8" name="stat pytest cases, 93% cov"/>
          <p:cNvSpPr txBox="1"/>
          <p:nvPr/>
        </p:nvSpPr>
        <p:spPr>
          <a:xfrm>
            <a:off x="1737360" y="2834640"/>
            <a:ext cx="1188720" cy="731520"/>
          </a:xfrm>
          <a:prstGeom prst="rect">
            <a:avLst/>
          </a:prstGeom>
          <a:noFill/>
          <a:ln/>
        </p:spPr>
        <p:txBody>
          <a:bodyPr wrap="square" lIns="0" tIns="0" rIns="0" bIns="0" rtlCol="0" anchor="b"/>
          <a:lstStyle/>
          <a:p>
            <a:pPr algn="l" indent="0" marL="0">
              <a:buNone/>
            </a:pPr>
            <a:r>
              <a:rPr lang="en-US" sz="4000" b="1" dirty="0">
                <a:solidFill>
                  <a:schemeClr val="accent2"/>
                </a:solidFill>
              </a:rPr>
              <a:t>11</a:t>
            </a:r>
            <a:endParaRPr lang="en-US" sz="4000" dirty="0"/>
          </a:p>
        </p:txBody>
      </p:sp>
      <p:sp>
        <p:nvSpPr>
          <p:cNvPr id="9" name="stat label pytest cases, 93% cov"/>
          <p:cNvSpPr txBox="1"/>
          <p:nvPr/>
        </p:nvSpPr>
        <p:spPr>
          <a:xfrm>
            <a:off x="1737360" y="3584448"/>
            <a:ext cx="1188720" cy="411480"/>
          </a:xfrm>
          <a:prstGeom prst="rect">
            <a:avLst/>
          </a:prstGeom>
          <a:noFill/>
          <a:ln/>
        </p:spPr>
        <p:txBody>
          <a:bodyPr wrap="square" lIns="0" tIns="0" rIns="0" bIns="0" rtlCol="0" anchor="t"/>
          <a:lstStyle/>
          <a:p>
            <a:pPr algn="l" indent="0" marL="0">
              <a:buNone/>
            </a:pPr>
            <a:r>
              <a:rPr lang="en-US" sz="1100" dirty="0">
                <a:solidFill>
                  <a:schemeClr val="tx2"/>
                </a:solidFill>
              </a:rPr>
              <a:t>pytest cases, 93% cov</a:t>
            </a:r>
            <a:endParaRPr lang="en-US" sz="1100" dirty="0"/>
          </a:p>
        </p:txBody>
      </p:sp>
      <p:sp>
        <p:nvSpPr>
          <p:cNvPr id="10" name="stat images, both non-root"/>
          <p:cNvSpPr txBox="1"/>
          <p:nvPr/>
        </p:nvSpPr>
        <p:spPr>
          <a:xfrm>
            <a:off x="3108960" y="2834640"/>
            <a:ext cx="1280160" cy="731520"/>
          </a:xfrm>
          <a:prstGeom prst="rect">
            <a:avLst/>
          </a:prstGeom>
          <a:noFill/>
          <a:ln/>
        </p:spPr>
        <p:txBody>
          <a:bodyPr wrap="square" lIns="0" tIns="0" rIns="0" bIns="0" rtlCol="0" anchor="b"/>
          <a:lstStyle/>
          <a:p>
            <a:pPr algn="l" indent="0" marL="0">
              <a:buNone/>
            </a:pPr>
            <a:r>
              <a:rPr lang="en-US" sz="4000" b="1" dirty="0">
                <a:solidFill>
                  <a:schemeClr val="accent4"/>
                </a:solidFill>
              </a:rPr>
              <a:t>2</a:t>
            </a:r>
            <a:endParaRPr lang="en-US" sz="4000" dirty="0"/>
          </a:p>
        </p:txBody>
      </p:sp>
      <p:sp>
        <p:nvSpPr>
          <p:cNvPr id="11" name="stat label images, both non-root"/>
          <p:cNvSpPr txBox="1"/>
          <p:nvPr/>
        </p:nvSpPr>
        <p:spPr>
          <a:xfrm>
            <a:off x="3108960" y="3584448"/>
            <a:ext cx="1280160" cy="411480"/>
          </a:xfrm>
          <a:prstGeom prst="rect">
            <a:avLst/>
          </a:prstGeom>
          <a:noFill/>
          <a:ln/>
        </p:spPr>
        <p:txBody>
          <a:bodyPr wrap="square" lIns="0" tIns="0" rIns="0" bIns="0" rtlCol="0" anchor="t"/>
          <a:lstStyle/>
          <a:p>
            <a:pPr algn="l" indent="0" marL="0">
              <a:buNone/>
            </a:pPr>
            <a:r>
              <a:rPr lang="en-US" sz="1100" dirty="0">
                <a:solidFill>
                  <a:schemeClr val="tx2"/>
                </a:solidFill>
              </a:rPr>
              <a:t>images, both non-root</a:t>
            </a:r>
            <a:endParaRPr lang="en-US" sz="1100" dirty="0"/>
          </a:p>
        </p:txBody>
      </p:sp>
      <p:sp>
        <p:nvSpPr>
          <p:cNvPr id="12" name="caption"/>
          <p:cNvSpPr txBox="1"/>
          <p:nvPr/>
        </p:nvSpPr>
        <p:spPr>
          <a:xfrm>
            <a:off x="4572000" y="3886200"/>
            <a:ext cx="4114800" cy="457200"/>
          </a:xfrm>
          <a:prstGeom prst="rect">
            <a:avLst/>
          </a:prstGeom>
          <a:noFill/>
          <a:ln/>
        </p:spPr>
        <p:txBody>
          <a:bodyPr wrap="square" lIns="0" tIns="0" rIns="0" bIns="0" rtlCol="0" anchor="ctr"/>
          <a:lstStyle/>
          <a:p>
            <a:pPr indent="0" marL="0">
              <a:buNone/>
            </a:pPr>
            <a:r>
              <a:rPr lang="en-US" sz="1000" i="1" dirty="0">
                <a:solidFill>
                  <a:schemeClr val="tx2"/>
                </a:solidFill>
              </a:rPr>
              <a:t>Frontend via docker compose on localhost:3000 – sidebar goal bar, KPI cards, add form, status filters, entries table.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Architecture: CI builds, GitOps deploys</a:t>
            </a:r>
            <a:endParaRPr lang="en-US" sz="2600" dirty="0"/>
          </a:p>
        </p:txBody>
      </p:sp>
      <p:sp>
        <p:nvSpPr>
          <p:cNvPr id="3" name="box git push"/>
          <p:cNvSpPr/>
          <p:nvPr/>
        </p:nvSpPr>
        <p:spPr>
          <a:xfrm>
            <a:off x="457200" y="1143000"/>
            <a:ext cx="1051560" cy="566928"/>
          </a:xfrm>
          <a:prstGeom prst="roundRect">
            <a:avLst>
              <a:gd name="adj" fmla="val 9677"/>
            </a:avLst>
          </a:prstGeom>
          <a:solidFill>
            <a:schemeClr val="bg2"/>
          </a:solidFill>
          <a:ln w="12700">
            <a:solidFill>
              <a:schemeClr val="bg2"/>
            </a:solidFill>
            <a:prstDash val="solid"/>
          </a:ln>
        </p:spPr>
      </p:sp>
      <p:sp>
        <p:nvSpPr>
          <p:cNvPr id="4" name="box text git push"/>
          <p:cNvSpPr txBox="1"/>
          <p:nvPr/>
        </p:nvSpPr>
        <p:spPr>
          <a:xfrm>
            <a:off x="457200" y="1143000"/>
            <a:ext cx="1051560" cy="566928"/>
          </a:xfrm>
          <a:prstGeom prst="rect">
            <a:avLst/>
          </a:prstGeom>
          <a:noFill/>
          <a:ln/>
        </p:spPr>
        <p:txBody>
          <a:bodyPr wrap="square" lIns="50800" tIns="50800" rIns="50800" bIns="50800" rtlCol="0" anchor="ctr"/>
          <a:lstStyle/>
          <a:p>
            <a:pPr algn="ctr" indent="0" marL="0">
              <a:buNone/>
            </a:pPr>
            <a:r>
              <a:rPr lang="en-US" sz="1100" b="1" dirty="0">
                <a:solidFill>
                  <a:schemeClr val="tx1"/>
                </a:solidFill>
              </a:rPr>
              <a:t>git push</a:t>
            </a:r>
            <a:endParaRPr lang="en-US" sz="1100" dirty="0"/>
          </a:p>
          <a:p>
            <a:pPr algn="ctr" indent="0" marL="0">
              <a:buNone/>
            </a:pPr>
            <a:r>
              <a:rPr lang="en-US" sz="900" dirty="0">
                <a:solidFill>
                  <a:schemeClr val="tx2"/>
                </a:solidFill>
              </a:rPr>
              <a:t>capstone branch</a:t>
            </a:r>
            <a:endParaRPr lang="en-US" sz="1100" dirty="0"/>
          </a:p>
        </p:txBody>
      </p:sp>
      <p:sp>
        <p:nvSpPr>
          <p:cNvPr id="5" name="arrow"/>
          <p:cNvSpPr/>
          <p:nvPr/>
        </p:nvSpPr>
        <p:spPr>
          <a:xfrm>
            <a:off x="1508760" y="1426464"/>
            <a:ext cx="228600" cy="914"/>
          </a:xfrm>
          <a:prstGeom prst="line">
            <a:avLst/>
          </a:prstGeom>
          <a:noFill/>
          <a:ln w="19050">
            <a:solidFill>
              <a:srgbClr val="4A5568"/>
            </a:solidFill>
            <a:prstDash val="solid"/>
            <a:tailEnd type="triangle"/>
          </a:ln>
        </p:spPr>
      </p:sp>
      <p:sp>
        <p:nvSpPr>
          <p:cNvPr id="6" name="box GitHub Actions gates"/>
          <p:cNvSpPr/>
          <p:nvPr/>
        </p:nvSpPr>
        <p:spPr>
          <a:xfrm>
            <a:off x="1737360" y="1143000"/>
            <a:ext cx="2103120" cy="566928"/>
          </a:xfrm>
          <a:prstGeom prst="roundRect">
            <a:avLst>
              <a:gd name="adj" fmla="val 9677"/>
            </a:avLst>
          </a:prstGeom>
          <a:solidFill>
            <a:schemeClr val="bg2"/>
          </a:solidFill>
          <a:ln w="12700">
            <a:solidFill>
              <a:schemeClr val="bg2"/>
            </a:solidFill>
            <a:prstDash val="solid"/>
          </a:ln>
        </p:spPr>
      </p:sp>
      <p:sp>
        <p:nvSpPr>
          <p:cNvPr id="7" name="box text GitHub Actions gates"/>
          <p:cNvSpPr txBox="1"/>
          <p:nvPr/>
        </p:nvSpPr>
        <p:spPr>
          <a:xfrm>
            <a:off x="1737360" y="1143000"/>
            <a:ext cx="2103120" cy="566928"/>
          </a:xfrm>
          <a:prstGeom prst="rect">
            <a:avLst/>
          </a:prstGeom>
          <a:noFill/>
          <a:ln/>
        </p:spPr>
        <p:txBody>
          <a:bodyPr wrap="square" lIns="50800" tIns="50800" rIns="50800" bIns="50800" rtlCol="0" anchor="ctr"/>
          <a:lstStyle/>
          <a:p>
            <a:pPr algn="ctr" indent="0" marL="0">
              <a:buNone/>
            </a:pPr>
            <a:r>
              <a:rPr lang="en-US" sz="1100" b="1" dirty="0">
                <a:solidFill>
                  <a:schemeClr val="tx1"/>
                </a:solidFill>
              </a:rPr>
              <a:t>GitHub Actions gates</a:t>
            </a:r>
            <a:endParaRPr lang="en-US" sz="1100" dirty="0"/>
          </a:p>
          <a:p>
            <a:pPr algn="ctr" indent="0" marL="0">
              <a:buNone/>
            </a:pPr>
            <a:r>
              <a:rPr lang="en-US" sz="850" dirty="0">
                <a:solidFill>
                  <a:schemeClr val="tx2"/>
                </a:solidFill>
              </a:rPr>
              <a:t>pytest · bandit/semgrep · pip-audit/npm audit · gitleaks · helm lint</a:t>
            </a:r>
            <a:endParaRPr lang="en-US" sz="1100" dirty="0"/>
          </a:p>
        </p:txBody>
      </p:sp>
      <p:sp>
        <p:nvSpPr>
          <p:cNvPr id="8" name="arrow"/>
          <p:cNvSpPr/>
          <p:nvPr/>
        </p:nvSpPr>
        <p:spPr>
          <a:xfrm>
            <a:off x="3840480" y="1426464"/>
            <a:ext cx="228600" cy="914"/>
          </a:xfrm>
          <a:prstGeom prst="line">
            <a:avLst/>
          </a:prstGeom>
          <a:noFill/>
          <a:ln w="19050">
            <a:solidFill>
              <a:srgbClr val="4A5568"/>
            </a:solidFill>
            <a:prstDash val="solid"/>
            <a:tailEnd type="triangle"/>
          </a:ln>
        </p:spPr>
      </p:sp>
      <p:sp>
        <p:nvSpPr>
          <p:cNvPr id="9" name="box build + push"/>
          <p:cNvSpPr/>
          <p:nvPr/>
        </p:nvSpPr>
        <p:spPr>
          <a:xfrm>
            <a:off x="4069080" y="1143000"/>
            <a:ext cx="1600200" cy="566928"/>
          </a:xfrm>
          <a:prstGeom prst="roundRect">
            <a:avLst>
              <a:gd name="adj" fmla="val 9677"/>
            </a:avLst>
          </a:prstGeom>
          <a:solidFill>
            <a:schemeClr val="bg2"/>
          </a:solidFill>
          <a:ln w="12700">
            <a:solidFill>
              <a:schemeClr val="bg2"/>
            </a:solidFill>
            <a:prstDash val="solid"/>
          </a:ln>
        </p:spPr>
      </p:sp>
      <p:sp>
        <p:nvSpPr>
          <p:cNvPr id="10" name="box text build + push"/>
          <p:cNvSpPr txBox="1"/>
          <p:nvPr/>
        </p:nvSpPr>
        <p:spPr>
          <a:xfrm>
            <a:off x="4069080" y="1143000"/>
            <a:ext cx="1600200" cy="566928"/>
          </a:xfrm>
          <a:prstGeom prst="rect">
            <a:avLst/>
          </a:prstGeom>
          <a:noFill/>
          <a:ln/>
        </p:spPr>
        <p:txBody>
          <a:bodyPr wrap="square" lIns="50800" tIns="50800" rIns="50800" bIns="50800" rtlCol="0" anchor="ctr"/>
          <a:lstStyle/>
          <a:p>
            <a:pPr algn="ctr" indent="0" marL="0">
              <a:buNone/>
            </a:pPr>
            <a:r>
              <a:rPr lang="en-US" sz="1100" b="1" dirty="0">
                <a:solidFill>
                  <a:schemeClr val="tx1"/>
                </a:solidFill>
              </a:rPr>
              <a:t>build + push</a:t>
            </a:r>
            <a:endParaRPr lang="en-US" sz="1100" dirty="0"/>
          </a:p>
          <a:p>
            <a:pPr algn="ctr" indent="0" marL="0">
              <a:buNone/>
            </a:pPr>
            <a:r>
              <a:rPr lang="en-US" sz="850" dirty="0">
                <a:solidFill>
                  <a:schemeClr val="tx2"/>
                </a:solidFill>
              </a:rPr>
              <a:t>GHCR  sha-&lt;7&gt;  amd64+arm64</a:t>
            </a:r>
            <a:endParaRPr lang="en-US" sz="1100" dirty="0"/>
          </a:p>
        </p:txBody>
      </p:sp>
      <p:sp>
        <p:nvSpPr>
          <p:cNvPr id="11" name="arrow"/>
          <p:cNvSpPr/>
          <p:nvPr/>
        </p:nvSpPr>
        <p:spPr>
          <a:xfrm>
            <a:off x="5669280" y="1426464"/>
            <a:ext cx="228600" cy="914"/>
          </a:xfrm>
          <a:prstGeom prst="line">
            <a:avLst/>
          </a:prstGeom>
          <a:noFill/>
          <a:ln w="19050">
            <a:solidFill>
              <a:srgbClr val="4A5568"/>
            </a:solidFill>
            <a:prstDash val="solid"/>
            <a:tailEnd type="triangle"/>
          </a:ln>
        </p:spPr>
      </p:sp>
      <p:sp>
        <p:nvSpPr>
          <p:cNvPr id="12" name="box trivy gate"/>
          <p:cNvSpPr/>
          <p:nvPr/>
        </p:nvSpPr>
        <p:spPr>
          <a:xfrm>
            <a:off x="5897880" y="1143000"/>
            <a:ext cx="1234440" cy="566928"/>
          </a:xfrm>
          <a:prstGeom prst="roundRect">
            <a:avLst>
              <a:gd name="adj" fmla="val 9677"/>
            </a:avLst>
          </a:prstGeom>
          <a:solidFill>
            <a:schemeClr val="accent3"/>
          </a:solidFill>
          <a:ln w="12700">
            <a:solidFill>
              <a:schemeClr val="accent3"/>
            </a:solidFill>
            <a:prstDash val="solid"/>
          </a:ln>
        </p:spPr>
      </p:sp>
      <p:sp>
        <p:nvSpPr>
          <p:cNvPr id="13" name="box text trivy gate"/>
          <p:cNvSpPr txBox="1"/>
          <p:nvPr/>
        </p:nvSpPr>
        <p:spPr>
          <a:xfrm>
            <a:off x="5897880" y="1143000"/>
            <a:ext cx="1234440" cy="566928"/>
          </a:xfrm>
          <a:prstGeom prst="rect">
            <a:avLst/>
          </a:prstGeom>
          <a:noFill/>
          <a:ln/>
        </p:spPr>
        <p:txBody>
          <a:bodyPr wrap="square" lIns="50800" tIns="50800" rIns="50800" bIns="50800" rtlCol="0" anchor="ctr"/>
          <a:lstStyle/>
          <a:p>
            <a:pPr algn="ctr" indent="0" marL="0">
              <a:buNone/>
            </a:pPr>
            <a:r>
              <a:rPr lang="en-US" sz="1100" b="1" dirty="0">
                <a:solidFill>
                  <a:schemeClr val="bg1"/>
                </a:solidFill>
              </a:rPr>
              <a:t>trivy gate</a:t>
            </a:r>
            <a:endParaRPr lang="en-US" sz="1100" dirty="0"/>
          </a:p>
          <a:p>
            <a:pPr algn="ctr" indent="0" marL="0">
              <a:buNone/>
            </a:pPr>
            <a:r>
              <a:rPr lang="en-US" sz="850" dirty="0">
                <a:solidFill>
                  <a:schemeClr val="bg1"/>
                </a:solidFill>
              </a:rPr>
              <a:t>HIGH/CRITICAL ⇒ fail</a:t>
            </a:r>
            <a:endParaRPr lang="en-US" sz="1100" dirty="0"/>
          </a:p>
        </p:txBody>
      </p:sp>
      <p:sp>
        <p:nvSpPr>
          <p:cNvPr id="14" name="arrow"/>
          <p:cNvSpPr/>
          <p:nvPr/>
        </p:nvSpPr>
        <p:spPr>
          <a:xfrm>
            <a:off x="7132320" y="1426464"/>
            <a:ext cx="228600" cy="914"/>
          </a:xfrm>
          <a:prstGeom prst="line">
            <a:avLst/>
          </a:prstGeom>
          <a:noFill/>
          <a:ln w="19050">
            <a:solidFill>
              <a:srgbClr val="4A5568"/>
            </a:solidFill>
            <a:prstDash val="solid"/>
            <a:tailEnd type="triangle"/>
          </a:ln>
        </p:spPr>
      </p:sp>
      <p:sp>
        <p:nvSpPr>
          <p:cNvPr id="15" name="box deploy job"/>
          <p:cNvSpPr/>
          <p:nvPr/>
        </p:nvSpPr>
        <p:spPr>
          <a:xfrm>
            <a:off x="7360920" y="1143000"/>
            <a:ext cx="1325880" cy="566928"/>
          </a:xfrm>
          <a:prstGeom prst="roundRect">
            <a:avLst>
              <a:gd name="adj" fmla="val 9677"/>
            </a:avLst>
          </a:prstGeom>
          <a:solidFill>
            <a:schemeClr val="bg2"/>
          </a:solidFill>
          <a:ln w="12700">
            <a:solidFill>
              <a:schemeClr val="bg2"/>
            </a:solidFill>
            <a:prstDash val="solid"/>
          </a:ln>
        </p:spPr>
      </p:sp>
      <p:sp>
        <p:nvSpPr>
          <p:cNvPr id="16" name="box text deploy job"/>
          <p:cNvSpPr txBox="1"/>
          <p:nvPr/>
        </p:nvSpPr>
        <p:spPr>
          <a:xfrm>
            <a:off x="7360920" y="1143000"/>
            <a:ext cx="1325880" cy="566928"/>
          </a:xfrm>
          <a:prstGeom prst="rect">
            <a:avLst/>
          </a:prstGeom>
          <a:noFill/>
          <a:ln/>
        </p:spPr>
        <p:txBody>
          <a:bodyPr wrap="square" lIns="50800" tIns="50800" rIns="50800" bIns="50800" rtlCol="0" anchor="ctr"/>
          <a:lstStyle/>
          <a:p>
            <a:pPr algn="ctr" indent="0" marL="0">
              <a:buNone/>
            </a:pPr>
            <a:r>
              <a:rPr lang="en-US" sz="1100" b="1" dirty="0">
                <a:solidFill>
                  <a:schemeClr val="tx1"/>
                </a:solidFill>
              </a:rPr>
              <a:t>deploy job</a:t>
            </a:r>
            <a:endParaRPr lang="en-US" sz="1100" dirty="0"/>
          </a:p>
          <a:p>
            <a:pPr algn="ctr" indent="0" marL="0">
              <a:buNone/>
            </a:pPr>
            <a:r>
              <a:rPr lang="en-US" sz="850" dirty="0">
                <a:solidFill>
                  <a:schemeClr val="tx2"/>
                </a:solidFill>
              </a:rPr>
              <a:t>bump image.tag, commit</a:t>
            </a:r>
            <a:endParaRPr lang="en-US" sz="1100" dirty="0"/>
          </a:p>
        </p:txBody>
      </p:sp>
      <p:sp>
        <p:nvSpPr>
          <p:cNvPr id="17" name="arrow"/>
          <p:cNvSpPr/>
          <p:nvPr/>
        </p:nvSpPr>
        <p:spPr>
          <a:xfrm>
            <a:off x="8028432" y="1709928"/>
            <a:ext cx="914" cy="301752"/>
          </a:xfrm>
          <a:prstGeom prst="line">
            <a:avLst/>
          </a:prstGeom>
          <a:noFill/>
          <a:ln w="19050">
            <a:solidFill>
              <a:srgbClr val="4A5568"/>
            </a:solidFill>
            <a:prstDash val="solid"/>
            <a:tailEnd type="triangle"/>
          </a:ln>
        </p:spPr>
      </p:sp>
      <p:sp>
        <p:nvSpPr>
          <p:cNvPr id="18" name="box Argo CD"/>
          <p:cNvSpPr/>
          <p:nvPr/>
        </p:nvSpPr>
        <p:spPr>
          <a:xfrm>
            <a:off x="7269480" y="2011680"/>
            <a:ext cx="1417320" cy="457200"/>
          </a:xfrm>
          <a:prstGeom prst="roundRect">
            <a:avLst>
              <a:gd name="adj" fmla="val 12000"/>
            </a:avLst>
          </a:prstGeom>
          <a:solidFill>
            <a:schemeClr val="accent2"/>
          </a:solidFill>
          <a:ln w="12700">
            <a:solidFill>
              <a:schemeClr val="accent2"/>
            </a:solidFill>
            <a:prstDash val="solid"/>
          </a:ln>
        </p:spPr>
      </p:sp>
      <p:sp>
        <p:nvSpPr>
          <p:cNvPr id="19" name="box text Argo CD"/>
          <p:cNvSpPr txBox="1"/>
          <p:nvPr/>
        </p:nvSpPr>
        <p:spPr>
          <a:xfrm>
            <a:off x="7269480" y="2011680"/>
            <a:ext cx="1417320" cy="457200"/>
          </a:xfrm>
          <a:prstGeom prst="rect">
            <a:avLst/>
          </a:prstGeom>
          <a:noFill/>
          <a:ln/>
        </p:spPr>
        <p:txBody>
          <a:bodyPr wrap="square" lIns="50800" tIns="50800" rIns="50800" bIns="50800" rtlCol="0" anchor="ctr"/>
          <a:lstStyle/>
          <a:p>
            <a:pPr algn="ctr" indent="0" marL="0">
              <a:buNone/>
            </a:pPr>
            <a:r>
              <a:rPr lang="en-US" sz="1100" b="1" dirty="0">
                <a:solidFill>
                  <a:schemeClr val="bg1"/>
                </a:solidFill>
              </a:rPr>
              <a:t>Argo CD</a:t>
            </a:r>
            <a:endParaRPr lang="en-US" sz="1100" dirty="0"/>
          </a:p>
          <a:p>
            <a:pPr algn="ctr" indent="0" marL="0">
              <a:buNone/>
            </a:pPr>
            <a:r>
              <a:rPr lang="en-US" sz="850" dirty="0">
                <a:solidFill>
                  <a:schemeClr val="bg1"/>
                </a:solidFill>
              </a:rPr>
              <a:t>auto-sync · self-heal · prune</a:t>
            </a:r>
            <a:endParaRPr lang="en-US" sz="1100" dirty="0"/>
          </a:p>
        </p:txBody>
      </p:sp>
      <p:sp>
        <p:nvSpPr>
          <p:cNvPr id="20" name="arrow"/>
          <p:cNvSpPr/>
          <p:nvPr/>
        </p:nvSpPr>
        <p:spPr>
          <a:xfrm flipH="1">
            <a:off x="6903720" y="2240280"/>
            <a:ext cx="365760" cy="914"/>
          </a:xfrm>
          <a:prstGeom prst="line">
            <a:avLst/>
          </a:prstGeom>
          <a:noFill/>
          <a:ln w="19050">
            <a:solidFill>
              <a:srgbClr val="1FA68F"/>
            </a:solidFill>
            <a:prstDash val="solid"/>
            <a:tailEnd type="triangle"/>
          </a:ln>
        </p:spPr>
      </p:sp>
      <p:sp>
        <p:nvSpPr>
          <p:cNvPr id="21" name="cluster"/>
          <p:cNvSpPr/>
          <p:nvPr/>
        </p:nvSpPr>
        <p:spPr>
          <a:xfrm>
            <a:off x="457200" y="2011680"/>
            <a:ext cx="6446520" cy="2514600"/>
          </a:xfrm>
          <a:prstGeom prst="roundRect">
            <a:avLst>
              <a:gd name="adj" fmla="val 2909"/>
            </a:avLst>
          </a:prstGeom>
          <a:solidFill>
            <a:schemeClr val="bg2"/>
          </a:solidFill>
          <a:ln w="15875">
            <a:solidFill>
              <a:srgbClr val="3B6EA5"/>
            </a:solidFill>
            <a:prstDash val="dash"/>
          </a:ln>
        </p:spPr>
      </p:sp>
      <p:sp>
        <p:nvSpPr>
          <p:cNvPr id="22" name="cluster label"/>
          <p:cNvSpPr txBox="1"/>
          <p:nvPr/>
        </p:nvSpPr>
        <p:spPr>
          <a:xfrm>
            <a:off x="594360" y="2075688"/>
            <a:ext cx="5029200" cy="274320"/>
          </a:xfrm>
          <a:prstGeom prst="rect">
            <a:avLst/>
          </a:prstGeom>
          <a:noFill/>
          <a:ln/>
        </p:spPr>
        <p:txBody>
          <a:bodyPr wrap="square" lIns="0" tIns="0" rIns="0" bIns="0" rtlCol="0" anchor="ctr"/>
          <a:lstStyle/>
          <a:p>
            <a:pPr indent="0" marL="0">
              <a:buNone/>
            </a:pPr>
            <a:r>
              <a:rPr lang="en-US" sz="1000" b="1" dirty="0">
                <a:solidFill>
                  <a:schemeClr val="accent4"/>
                </a:solidFill>
              </a:rPr>
              <a:t>kind cluster kushal-lab  ·  namespace studytrack</a:t>
            </a:r>
            <a:endParaRPr lang="en-US" sz="1000" dirty="0"/>
          </a:p>
        </p:txBody>
      </p:sp>
      <p:sp>
        <p:nvSpPr>
          <p:cNvPr id="23" name="box Ingress"/>
          <p:cNvSpPr/>
          <p:nvPr/>
        </p:nvSpPr>
        <p:spPr>
          <a:xfrm>
            <a:off x="640080" y="2834640"/>
            <a:ext cx="1234440" cy="530352"/>
          </a:xfrm>
          <a:prstGeom prst="roundRect">
            <a:avLst>
              <a:gd name="adj" fmla="val 10345"/>
            </a:avLst>
          </a:prstGeom>
          <a:solidFill>
            <a:schemeClr val="bg1"/>
          </a:solidFill>
          <a:ln w="12700">
            <a:solidFill>
              <a:schemeClr val="bg1"/>
            </a:solidFill>
            <a:prstDash val="solid"/>
          </a:ln>
        </p:spPr>
      </p:sp>
      <p:sp>
        <p:nvSpPr>
          <p:cNvPr id="24" name="box text Ingress"/>
          <p:cNvSpPr txBox="1"/>
          <p:nvPr/>
        </p:nvSpPr>
        <p:spPr>
          <a:xfrm>
            <a:off x="640080" y="2834640"/>
            <a:ext cx="1234440" cy="530352"/>
          </a:xfrm>
          <a:prstGeom prst="rect">
            <a:avLst/>
          </a:prstGeom>
          <a:noFill/>
          <a:ln/>
        </p:spPr>
        <p:txBody>
          <a:bodyPr wrap="square" lIns="50800" tIns="50800" rIns="50800" bIns="50800" rtlCol="0" anchor="ctr"/>
          <a:lstStyle/>
          <a:p>
            <a:pPr algn="ctr" indent="0" marL="0">
              <a:buNone/>
            </a:pPr>
            <a:r>
              <a:rPr lang="en-US" sz="1100" b="1" dirty="0">
                <a:solidFill>
                  <a:schemeClr val="tx1"/>
                </a:solidFill>
              </a:rPr>
              <a:t>Ingress</a:t>
            </a:r>
            <a:endParaRPr lang="en-US" sz="1100" dirty="0"/>
          </a:p>
          <a:p>
            <a:pPr algn="ctr" indent="0" marL="0">
              <a:buNone/>
            </a:pPr>
            <a:r>
              <a:rPr lang="en-US" sz="850" dirty="0">
                <a:solidFill>
                  <a:schemeClr val="tx2"/>
                </a:solidFill>
              </a:rPr>
              <a:t>studytrack.local</a:t>
            </a:r>
            <a:endParaRPr lang="en-US" sz="1100" dirty="0"/>
          </a:p>
        </p:txBody>
      </p:sp>
      <p:sp>
        <p:nvSpPr>
          <p:cNvPr id="25" name="box frontend ×2"/>
          <p:cNvSpPr/>
          <p:nvPr/>
        </p:nvSpPr>
        <p:spPr>
          <a:xfrm>
            <a:off x="2240280" y="2404872"/>
            <a:ext cx="1554480" cy="530352"/>
          </a:xfrm>
          <a:prstGeom prst="roundRect">
            <a:avLst>
              <a:gd name="adj" fmla="val 10345"/>
            </a:avLst>
          </a:prstGeom>
          <a:solidFill>
            <a:schemeClr val="bg1"/>
          </a:solidFill>
          <a:ln w="12700">
            <a:solidFill>
              <a:schemeClr val="bg1"/>
            </a:solidFill>
            <a:prstDash val="solid"/>
          </a:ln>
        </p:spPr>
      </p:sp>
      <p:sp>
        <p:nvSpPr>
          <p:cNvPr id="26" name="box text frontend ×2"/>
          <p:cNvSpPr txBox="1"/>
          <p:nvPr/>
        </p:nvSpPr>
        <p:spPr>
          <a:xfrm>
            <a:off x="2240280" y="2404872"/>
            <a:ext cx="1554480" cy="530352"/>
          </a:xfrm>
          <a:prstGeom prst="rect">
            <a:avLst/>
          </a:prstGeom>
          <a:noFill/>
          <a:ln/>
        </p:spPr>
        <p:txBody>
          <a:bodyPr wrap="square" lIns="50800" tIns="50800" rIns="50800" bIns="50800" rtlCol="0" anchor="ctr"/>
          <a:lstStyle/>
          <a:p>
            <a:pPr algn="ctr" indent="0" marL="0">
              <a:buNone/>
            </a:pPr>
            <a:r>
              <a:rPr lang="en-US" sz="1100" b="1" dirty="0">
                <a:solidFill>
                  <a:schemeClr val="tx1"/>
                </a:solidFill>
              </a:rPr>
              <a:t>frontend ×2</a:t>
            </a:r>
            <a:endParaRPr lang="en-US" sz="1100" dirty="0"/>
          </a:p>
          <a:p>
            <a:pPr algn="ctr" indent="0" marL="0">
              <a:buNone/>
            </a:pPr>
            <a:r>
              <a:rPr lang="en-US" sz="850" dirty="0">
                <a:solidFill>
                  <a:schemeClr val="tx2"/>
                </a:solidFill>
              </a:rPr>
              <a:t>nginx-unprivileged :8080</a:t>
            </a:r>
            <a:endParaRPr lang="en-US" sz="1100" dirty="0"/>
          </a:p>
        </p:txBody>
      </p:sp>
      <p:sp>
        <p:nvSpPr>
          <p:cNvPr id="27" name="box backend 2…6 (HPA 50% CPU)"/>
          <p:cNvSpPr/>
          <p:nvPr/>
        </p:nvSpPr>
        <p:spPr>
          <a:xfrm>
            <a:off x="2240280" y="3246120"/>
            <a:ext cx="1554480" cy="530352"/>
          </a:xfrm>
          <a:prstGeom prst="roundRect">
            <a:avLst>
              <a:gd name="adj" fmla="val 10345"/>
            </a:avLst>
          </a:prstGeom>
          <a:solidFill>
            <a:schemeClr val="bg1"/>
          </a:solidFill>
          <a:ln w="12700">
            <a:solidFill>
              <a:schemeClr val="bg1"/>
            </a:solidFill>
            <a:prstDash val="solid"/>
          </a:ln>
        </p:spPr>
      </p:sp>
      <p:sp>
        <p:nvSpPr>
          <p:cNvPr id="28" name="box text backend 2…6 (HPA 50% CPU)"/>
          <p:cNvSpPr txBox="1"/>
          <p:nvPr/>
        </p:nvSpPr>
        <p:spPr>
          <a:xfrm>
            <a:off x="2240280" y="3246120"/>
            <a:ext cx="1554480" cy="530352"/>
          </a:xfrm>
          <a:prstGeom prst="rect">
            <a:avLst/>
          </a:prstGeom>
          <a:noFill/>
          <a:ln/>
        </p:spPr>
        <p:txBody>
          <a:bodyPr wrap="square" lIns="50800" tIns="50800" rIns="50800" bIns="50800" rtlCol="0" anchor="ctr"/>
          <a:lstStyle/>
          <a:p>
            <a:pPr algn="ctr" indent="0" marL="0">
              <a:buNone/>
            </a:pPr>
            <a:r>
              <a:rPr lang="en-US" sz="1100" b="1" dirty="0">
                <a:solidFill>
                  <a:schemeClr val="tx1"/>
                </a:solidFill>
              </a:rPr>
              <a:t>backend 2…6 (HPA 50% CPU)</a:t>
            </a:r>
            <a:endParaRPr lang="en-US" sz="1100" dirty="0"/>
          </a:p>
          <a:p>
            <a:pPr algn="ctr" indent="0" marL="0">
              <a:buNone/>
            </a:pPr>
            <a:r>
              <a:rPr lang="en-US" sz="850" dirty="0">
                <a:solidFill>
                  <a:schemeClr val="tx2"/>
                </a:solidFill>
              </a:rPr>
              <a:t>uvicorn · startup/ready/live probes</a:t>
            </a:r>
            <a:endParaRPr lang="en-US" sz="1100" dirty="0"/>
          </a:p>
        </p:txBody>
      </p:sp>
      <p:sp>
        <p:nvSpPr>
          <p:cNvPr id="29" name="arrow"/>
          <p:cNvSpPr/>
          <p:nvPr/>
        </p:nvSpPr>
        <p:spPr>
          <a:xfrm flipV="1">
            <a:off x="1874520" y="2670048"/>
            <a:ext cx="365760" cy="347472"/>
          </a:xfrm>
          <a:prstGeom prst="line">
            <a:avLst/>
          </a:prstGeom>
          <a:noFill/>
          <a:ln w="19050">
            <a:solidFill>
              <a:srgbClr val="4A5568"/>
            </a:solidFill>
            <a:prstDash val="solid"/>
            <a:tailEnd type="triangle"/>
          </a:ln>
        </p:spPr>
      </p:sp>
      <p:sp>
        <p:nvSpPr>
          <p:cNvPr id="30" name="arrow"/>
          <p:cNvSpPr/>
          <p:nvPr/>
        </p:nvSpPr>
        <p:spPr>
          <a:xfrm>
            <a:off x="1874520" y="3182112"/>
            <a:ext cx="365760" cy="329184"/>
          </a:xfrm>
          <a:prstGeom prst="line">
            <a:avLst/>
          </a:prstGeom>
          <a:noFill/>
          <a:ln w="19050">
            <a:solidFill>
              <a:srgbClr val="4A5568"/>
            </a:solidFill>
            <a:prstDash val="solid"/>
            <a:tailEnd type="triangle"/>
          </a:ln>
        </p:spPr>
      </p:sp>
      <p:sp>
        <p:nvSpPr>
          <p:cNvPr id="31" name="path root"/>
          <p:cNvSpPr txBox="1"/>
          <p:nvPr/>
        </p:nvSpPr>
        <p:spPr>
          <a:xfrm>
            <a:off x="1938528" y="2679192"/>
            <a:ext cx="274320" cy="182880"/>
          </a:xfrm>
          <a:prstGeom prst="rect">
            <a:avLst/>
          </a:prstGeom>
          <a:noFill/>
          <a:ln/>
        </p:spPr>
        <p:txBody>
          <a:bodyPr wrap="square" lIns="0" tIns="0" rIns="0" bIns="0" rtlCol="0" anchor="ctr"/>
          <a:lstStyle/>
          <a:p>
            <a:pPr indent="0" marL="0">
              <a:buNone/>
            </a:pPr>
            <a:r>
              <a:rPr lang="en-US" sz="800" dirty="0">
                <a:solidFill>
                  <a:schemeClr val="tx2"/>
                </a:solidFill>
              </a:rPr>
              <a:t>/</a:t>
            </a:r>
            <a:endParaRPr lang="en-US" sz="800" dirty="0"/>
          </a:p>
        </p:txBody>
      </p:sp>
      <p:sp>
        <p:nvSpPr>
          <p:cNvPr id="32" name="path api"/>
          <p:cNvSpPr txBox="1"/>
          <p:nvPr/>
        </p:nvSpPr>
        <p:spPr>
          <a:xfrm>
            <a:off x="1901952" y="3410712"/>
            <a:ext cx="320040" cy="182880"/>
          </a:xfrm>
          <a:prstGeom prst="rect">
            <a:avLst/>
          </a:prstGeom>
          <a:noFill/>
          <a:ln/>
        </p:spPr>
        <p:txBody>
          <a:bodyPr wrap="square" lIns="0" tIns="0" rIns="0" bIns="0" rtlCol="0" anchor="ctr"/>
          <a:lstStyle/>
          <a:p>
            <a:pPr indent="0" marL="0">
              <a:buNone/>
            </a:pPr>
            <a:r>
              <a:rPr lang="en-US" sz="800" dirty="0">
                <a:solidFill>
                  <a:schemeClr val="tx2"/>
                </a:solidFill>
              </a:rPr>
              <a:t>/api</a:t>
            </a:r>
            <a:endParaRPr lang="en-US" sz="800" dirty="0"/>
          </a:p>
        </p:txBody>
      </p:sp>
      <p:sp>
        <p:nvSpPr>
          <p:cNvPr id="33" name="box postgres + PVC 1Gi"/>
          <p:cNvSpPr/>
          <p:nvPr/>
        </p:nvSpPr>
        <p:spPr>
          <a:xfrm>
            <a:off x="4206240" y="3246120"/>
            <a:ext cx="1371600" cy="530352"/>
          </a:xfrm>
          <a:prstGeom prst="roundRect">
            <a:avLst>
              <a:gd name="adj" fmla="val 10345"/>
            </a:avLst>
          </a:prstGeom>
          <a:solidFill>
            <a:schemeClr val="bg1"/>
          </a:solidFill>
          <a:ln w="12700">
            <a:solidFill>
              <a:schemeClr val="bg1"/>
            </a:solidFill>
            <a:prstDash val="solid"/>
          </a:ln>
        </p:spPr>
      </p:sp>
      <p:sp>
        <p:nvSpPr>
          <p:cNvPr id="34" name="box text postgres + PVC 1Gi"/>
          <p:cNvSpPr txBox="1"/>
          <p:nvPr/>
        </p:nvSpPr>
        <p:spPr>
          <a:xfrm>
            <a:off x="4206240" y="3246120"/>
            <a:ext cx="1371600" cy="530352"/>
          </a:xfrm>
          <a:prstGeom prst="rect">
            <a:avLst/>
          </a:prstGeom>
          <a:noFill/>
          <a:ln/>
        </p:spPr>
        <p:txBody>
          <a:bodyPr wrap="square" lIns="50800" tIns="50800" rIns="50800" bIns="50800" rtlCol="0" anchor="ctr"/>
          <a:lstStyle/>
          <a:p>
            <a:pPr algn="ctr" indent="0" marL="0">
              <a:buNone/>
            </a:pPr>
            <a:r>
              <a:rPr lang="en-US" sz="1100" b="1" dirty="0">
                <a:solidFill>
                  <a:schemeClr val="tx1"/>
                </a:solidFill>
              </a:rPr>
              <a:t>postgres + PVC 1Gi</a:t>
            </a:r>
            <a:endParaRPr lang="en-US" sz="1100" dirty="0"/>
          </a:p>
          <a:p>
            <a:pPr algn="ctr" indent="0" marL="0">
              <a:buNone/>
            </a:pPr>
            <a:r>
              <a:rPr lang="en-US" sz="850" dirty="0">
                <a:solidFill>
                  <a:schemeClr val="tx2"/>
                </a:solidFill>
              </a:rPr>
              <a:t>Secret · ConfigMap</a:t>
            </a:r>
            <a:endParaRPr lang="en-US" sz="1100" dirty="0"/>
          </a:p>
        </p:txBody>
      </p:sp>
      <p:sp>
        <p:nvSpPr>
          <p:cNvPr id="35" name="arrow"/>
          <p:cNvSpPr/>
          <p:nvPr/>
        </p:nvSpPr>
        <p:spPr>
          <a:xfrm>
            <a:off x="3794760" y="3511296"/>
            <a:ext cx="411480" cy="914"/>
          </a:xfrm>
          <a:prstGeom prst="line">
            <a:avLst/>
          </a:prstGeom>
          <a:noFill/>
          <a:ln w="19050">
            <a:solidFill>
              <a:srgbClr val="4A5568"/>
            </a:solidFill>
            <a:prstDash val="solid"/>
            <a:tailEnd type="triangle"/>
          </a:ln>
        </p:spPr>
      </p:sp>
      <p:sp>
        <p:nvSpPr>
          <p:cNvPr id="36" name="box ServiceMonitor"/>
          <p:cNvSpPr/>
          <p:nvPr/>
        </p:nvSpPr>
        <p:spPr>
          <a:xfrm>
            <a:off x="4206240" y="2404872"/>
            <a:ext cx="1371600" cy="530352"/>
          </a:xfrm>
          <a:prstGeom prst="roundRect">
            <a:avLst>
              <a:gd name="adj" fmla="val 10345"/>
            </a:avLst>
          </a:prstGeom>
          <a:solidFill>
            <a:schemeClr val="bg1"/>
          </a:solidFill>
          <a:ln w="12700">
            <a:solidFill>
              <a:schemeClr val="bg1"/>
            </a:solidFill>
            <a:prstDash val="solid"/>
          </a:ln>
        </p:spPr>
      </p:sp>
      <p:sp>
        <p:nvSpPr>
          <p:cNvPr id="37" name="box text ServiceMonitor"/>
          <p:cNvSpPr txBox="1"/>
          <p:nvPr/>
        </p:nvSpPr>
        <p:spPr>
          <a:xfrm>
            <a:off x="4206240" y="2404872"/>
            <a:ext cx="1371600" cy="530352"/>
          </a:xfrm>
          <a:prstGeom prst="rect">
            <a:avLst/>
          </a:prstGeom>
          <a:noFill/>
          <a:ln/>
        </p:spPr>
        <p:txBody>
          <a:bodyPr wrap="square" lIns="50800" tIns="50800" rIns="50800" bIns="50800" rtlCol="0" anchor="ctr"/>
          <a:lstStyle/>
          <a:p>
            <a:pPr algn="ctr" indent="0" marL="0">
              <a:buNone/>
            </a:pPr>
            <a:r>
              <a:rPr lang="en-US" sz="1100" b="1" dirty="0">
                <a:solidFill>
                  <a:schemeClr val="tx1"/>
                </a:solidFill>
              </a:rPr>
              <a:t>ServiceMonitor</a:t>
            </a:r>
            <a:endParaRPr lang="en-US" sz="1100" dirty="0"/>
          </a:p>
          <a:p>
            <a:pPr algn="ctr" indent="0" marL="0">
              <a:buNone/>
            </a:pPr>
            <a:r>
              <a:rPr lang="en-US" sz="850" dirty="0">
                <a:solidFill>
                  <a:schemeClr val="tx2"/>
                </a:solidFill>
              </a:rPr>
              <a:t>/metrics every 15s</a:t>
            </a:r>
            <a:endParaRPr lang="en-US" sz="1100" dirty="0"/>
          </a:p>
        </p:txBody>
      </p:sp>
      <p:sp>
        <p:nvSpPr>
          <p:cNvPr id="38" name="arrow"/>
          <p:cNvSpPr/>
          <p:nvPr/>
        </p:nvSpPr>
        <p:spPr>
          <a:xfrm flipV="1">
            <a:off x="3794760" y="2670048"/>
            <a:ext cx="411480" cy="576072"/>
          </a:xfrm>
          <a:prstGeom prst="line">
            <a:avLst/>
          </a:prstGeom>
          <a:noFill/>
          <a:ln w="19050">
            <a:solidFill>
              <a:srgbClr val="8C6BBF"/>
            </a:solidFill>
            <a:prstDash val="solid"/>
            <a:tailEnd type="triangle"/>
          </a:ln>
        </p:spPr>
      </p:sp>
      <p:sp>
        <p:nvSpPr>
          <p:cNvPr id="39" name="box Prometheus"/>
          <p:cNvSpPr/>
          <p:nvPr/>
        </p:nvSpPr>
        <p:spPr>
          <a:xfrm>
            <a:off x="5715000" y="2404872"/>
            <a:ext cx="1051560" cy="530352"/>
          </a:xfrm>
          <a:prstGeom prst="roundRect">
            <a:avLst>
              <a:gd name="adj" fmla="val 10345"/>
            </a:avLst>
          </a:prstGeom>
          <a:solidFill>
            <a:schemeClr val="accent5"/>
          </a:solidFill>
          <a:ln w="12700">
            <a:solidFill>
              <a:schemeClr val="accent5"/>
            </a:solidFill>
            <a:prstDash val="solid"/>
          </a:ln>
        </p:spPr>
      </p:sp>
      <p:sp>
        <p:nvSpPr>
          <p:cNvPr id="40" name="box text Prometheus"/>
          <p:cNvSpPr txBox="1"/>
          <p:nvPr/>
        </p:nvSpPr>
        <p:spPr>
          <a:xfrm>
            <a:off x="5715000" y="2404872"/>
            <a:ext cx="1051560" cy="530352"/>
          </a:xfrm>
          <a:prstGeom prst="rect">
            <a:avLst/>
          </a:prstGeom>
          <a:noFill/>
          <a:ln/>
        </p:spPr>
        <p:txBody>
          <a:bodyPr wrap="square" lIns="50800" tIns="50800" rIns="50800" bIns="50800" rtlCol="0" anchor="ctr"/>
          <a:lstStyle/>
          <a:p>
            <a:pPr algn="ctr" indent="0" marL="0">
              <a:buNone/>
            </a:pPr>
            <a:r>
              <a:rPr lang="en-US" sz="1100" b="1" dirty="0">
                <a:solidFill>
                  <a:schemeClr val="bg1"/>
                </a:solidFill>
              </a:rPr>
              <a:t>Prometheus</a:t>
            </a:r>
            <a:endParaRPr lang="en-US" sz="1100" dirty="0"/>
          </a:p>
          <a:p>
            <a:pPr algn="ctr" indent="0" marL="0">
              <a:buNone/>
            </a:pPr>
            <a:r>
              <a:rPr lang="en-US" sz="850" dirty="0">
                <a:solidFill>
                  <a:schemeClr val="bg1"/>
                </a:solidFill>
              </a:rPr>
              <a:t>3 alert rules</a:t>
            </a:r>
            <a:endParaRPr lang="en-US" sz="1100" dirty="0"/>
          </a:p>
        </p:txBody>
      </p:sp>
      <p:sp>
        <p:nvSpPr>
          <p:cNvPr id="41" name="arrow"/>
          <p:cNvSpPr/>
          <p:nvPr/>
        </p:nvSpPr>
        <p:spPr>
          <a:xfrm>
            <a:off x="5577840" y="2670048"/>
            <a:ext cx="137160" cy="914"/>
          </a:xfrm>
          <a:prstGeom prst="line">
            <a:avLst/>
          </a:prstGeom>
          <a:noFill/>
          <a:ln w="19050">
            <a:solidFill>
              <a:srgbClr val="8C6BBF"/>
            </a:solidFill>
            <a:prstDash val="solid"/>
            <a:tailEnd type="triangle"/>
          </a:ln>
        </p:spPr>
      </p:sp>
      <p:sp>
        <p:nvSpPr>
          <p:cNvPr id="42" name="box Grafana"/>
          <p:cNvSpPr/>
          <p:nvPr/>
        </p:nvSpPr>
        <p:spPr>
          <a:xfrm>
            <a:off x="5715000" y="3246120"/>
            <a:ext cx="1051560" cy="530352"/>
          </a:xfrm>
          <a:prstGeom prst="roundRect">
            <a:avLst>
              <a:gd name="adj" fmla="val 10345"/>
            </a:avLst>
          </a:prstGeom>
          <a:solidFill>
            <a:schemeClr val="accent5"/>
          </a:solidFill>
          <a:ln w="12700">
            <a:solidFill>
              <a:schemeClr val="accent5"/>
            </a:solidFill>
            <a:prstDash val="solid"/>
          </a:ln>
        </p:spPr>
      </p:sp>
      <p:sp>
        <p:nvSpPr>
          <p:cNvPr id="43" name="box text Grafana"/>
          <p:cNvSpPr txBox="1"/>
          <p:nvPr/>
        </p:nvSpPr>
        <p:spPr>
          <a:xfrm>
            <a:off x="5715000" y="3246120"/>
            <a:ext cx="1051560" cy="530352"/>
          </a:xfrm>
          <a:prstGeom prst="rect">
            <a:avLst/>
          </a:prstGeom>
          <a:noFill/>
          <a:ln/>
        </p:spPr>
        <p:txBody>
          <a:bodyPr wrap="square" lIns="50800" tIns="50800" rIns="50800" bIns="50800" rtlCol="0" anchor="ctr"/>
          <a:lstStyle/>
          <a:p>
            <a:pPr algn="ctr" indent="0" marL="0">
              <a:buNone/>
            </a:pPr>
            <a:r>
              <a:rPr lang="en-US" sz="1100" b="1" dirty="0">
                <a:solidFill>
                  <a:schemeClr val="bg1"/>
                </a:solidFill>
              </a:rPr>
              <a:t>Grafana</a:t>
            </a:r>
            <a:endParaRPr lang="en-US" sz="1100" dirty="0"/>
          </a:p>
          <a:p>
            <a:pPr algn="ctr" indent="0" marL="0">
              <a:buNone/>
            </a:pPr>
            <a:r>
              <a:rPr lang="en-US" sz="850" dirty="0">
                <a:solidFill>
                  <a:schemeClr val="bg1"/>
                </a:solidFill>
              </a:rPr>
              <a:t>8-panel dashboard</a:t>
            </a:r>
            <a:endParaRPr lang="en-US" sz="1100" dirty="0"/>
          </a:p>
        </p:txBody>
      </p:sp>
      <p:sp>
        <p:nvSpPr>
          <p:cNvPr id="44" name="arrow"/>
          <p:cNvSpPr/>
          <p:nvPr/>
        </p:nvSpPr>
        <p:spPr>
          <a:xfrm>
            <a:off x="6236208" y="2935224"/>
            <a:ext cx="914" cy="310896"/>
          </a:xfrm>
          <a:prstGeom prst="line">
            <a:avLst/>
          </a:prstGeom>
          <a:noFill/>
          <a:ln w="19050">
            <a:solidFill>
              <a:srgbClr val="8C6BBF"/>
            </a:solidFill>
            <a:prstDash val="solid"/>
            <a:tailEnd type="triangle"/>
          </a:ln>
        </p:spPr>
      </p:sp>
      <p:sp>
        <p:nvSpPr>
          <p:cNvPr id="45" name="tf note"/>
          <p:cNvSpPr txBox="1"/>
          <p:nvPr/>
        </p:nvSpPr>
        <p:spPr>
          <a:xfrm>
            <a:off x="594360" y="4160520"/>
            <a:ext cx="6217920" cy="274320"/>
          </a:xfrm>
          <a:prstGeom prst="rect">
            <a:avLst/>
          </a:prstGeom>
          <a:noFill/>
          <a:ln/>
        </p:spPr>
        <p:txBody>
          <a:bodyPr wrap="square" lIns="0" tIns="0" rIns="0" bIns="0" rtlCol="0" anchor="ctr"/>
          <a:lstStyle/>
          <a:p>
            <a:pPr indent="0" marL="0">
              <a:buNone/>
            </a:pPr>
            <a:r>
              <a:rPr lang="en-US" sz="950" i="1" dirty="0">
                <a:solidFill>
                  <a:schemeClr val="tx2"/>
                </a:solidFill>
              </a:rPr>
              <a:t>Terraform (VPC · 2 public subnets · IGW · SG · S3 · EKS module) ran against LocalStack – see M7.</a:t>
            </a:r>
            <a:endParaRPr lang="en-US" sz="950" dirty="0"/>
          </a:p>
        </p:txBody>
      </p:sp>
      <p:sp>
        <p:nvSpPr>
          <p:cNvPr id="46" name="argo note"/>
          <p:cNvSpPr txBox="1"/>
          <p:nvPr/>
        </p:nvSpPr>
        <p:spPr>
          <a:xfrm>
            <a:off x="7269480" y="2606040"/>
            <a:ext cx="1417320" cy="914400"/>
          </a:xfrm>
          <a:prstGeom prst="rect">
            <a:avLst/>
          </a:prstGeom>
          <a:noFill/>
          <a:ln/>
        </p:spPr>
        <p:txBody>
          <a:bodyPr wrap="square" lIns="0" tIns="0" rIns="0" bIns="0" rtlCol="0" anchor="t"/>
          <a:lstStyle/>
          <a:p>
            <a:pPr indent="0" marL="0">
              <a:buNone/>
            </a:pPr>
            <a:r>
              <a:rPr lang="en-US" sz="950" i="1" dirty="0">
                <a:solidFill>
                  <a:schemeClr val="tx2"/>
                </a:solidFill>
              </a:rPr>
              <a:t>The runner never gets a kubeconfig. It changes one line in git; Argo CD does the apply.</a:t>
            </a:r>
            <a:endParaRPr lang="en-US" sz="9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M1  Application and API</a:t>
            </a:r>
            <a:endParaRPr lang="en-US" sz="2600" dirty="0"/>
          </a:p>
        </p:txBody>
      </p:sp>
      <p:sp>
        <p:nvSpPr>
          <p:cNvPr id="3" name="frame 02-backend-swagger-docs.png"/>
          <p:cNvSpPr/>
          <p:nvPr/>
        </p:nvSpPr>
        <p:spPr>
          <a:xfrm>
            <a:off x="4700016" y="1042416"/>
            <a:ext cx="4041648" cy="2633472"/>
          </a:xfrm>
          <a:prstGeom prst="roundRect">
            <a:avLst>
              <a:gd name="adj" fmla="val 2778"/>
            </a:avLst>
          </a:prstGeom>
          <a:solidFill>
            <a:srgbClr val="0E1726"/>
          </a:solidFill>
          <a:ln w="12700">
            <a:solidFill>
              <a:srgbClr val="0E1726"/>
            </a:solidFill>
            <a:prstDash val="solid"/>
          </a:ln>
          <a:effectLst>
            <a:outerShdw sx="100000" sy="100000" kx="0" ky="0" algn="bl" rotWithShape="0" blurRad="76200" dist="25400" dir="5400000">
              <a:srgbClr val="000000">
                <a:alpha val="25000"/>
              </a:srgbClr>
            </a:outerShdw>
          </a:effectLst>
        </p:spPr>
      </p:sp>
      <p:pic>
        <p:nvPicPr>
          <p:cNvPr id="4" name="screenshot 02-backend-swagger-docs.png" descr="/Users/kushalscaler/devops-heros/session21-python/kushal-24bcs10123/screenshots/02-backend-swagger-docs.png">    </p:cNvPr>
          <p:cNvPicPr>
            <a:picLocks noChangeAspect="1"/>
          </p:cNvPicPr>
          <p:nvPr/>
        </p:nvPicPr>
        <p:blipFill>
          <a:blip r:embed="rId1"/>
          <a:stretch>
            <a:fillRect/>
          </a:stretch>
        </p:blipFill>
        <p:spPr>
          <a:xfrm>
            <a:off x="4754880" y="1097280"/>
            <a:ext cx="3931920" cy="2523744"/>
          </a:xfrm>
          <a:prstGeom prst="rect">
            <a:avLst/>
          </a:prstGeom>
        </p:spPr>
      </p:pic>
      <p:graphicFrame>
        <p:nvGraphicFramePr>
          <p:cNvPr id="5" name="endpoint table"/>
          <p:cNvGraphicFramePr>
            <a:graphicFrameLocks noGrp="1"/>
          </p:cNvGraphicFramePr>
          <p:nvPr>
            <p:extLst>
              <p:ext uri="{D42A27DB-BD31-4B8C-83A1-F6EECF244321}">
                <p14:modId xmlns:p14="http://schemas.microsoft.com/office/powerpoint/2010/main" val="1579011935"/>
              </p:ext>
            </p:extLst>
          </p:nvPr>
        </p:nvGraphicFramePr>
        <p:xfrm>
          <a:off x="457200" y="1097280"/>
          <a:ext cx="4114800" cy="914400"/>
        </p:xfrm>
        <a:graphic>
          <a:graphicData uri="http://schemas.openxmlformats.org/drawingml/2006/table">
            <a:tbl>
              <a:tblPr/>
              <a:tblGrid>
                <a:gridCol w="685800"/>
                <a:gridCol w="1600200"/>
                <a:gridCol w="1828800"/>
              </a:tblGrid>
              <a:tr h="274320">
                <a:tc>
                  <a:txBody>
                    <a:bodyPr/>
                    <a:lstStyle/>
                    <a:p>
                      <a:pPr indent="0" marL="0">
                        <a:buNone/>
                      </a:pPr>
                      <a:r>
                        <a:rPr lang="en-US" sz="950" b="1" dirty="0">
                          <a:solidFill>
                            <a:srgbClr val="1FA68F"/>
                          </a:solidFill>
                          <a:latin typeface="Courier New" pitchFamily="34" charset="0"/>
                          <a:ea typeface="Courier New" pitchFamily="34" charset="-122"/>
                          <a:cs typeface="Courier New" pitchFamily="34" charset="-120"/>
                        </a:rPr>
                        <a:t>GET</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0E1726"/>
                          </a:solidFill>
                          <a:latin typeface="Courier New" pitchFamily="34" charset="0"/>
                          <a:ea typeface="Courier New" pitchFamily="34" charset="-122"/>
                          <a:cs typeface="Courier New" pitchFamily="34" charset="-120"/>
                        </a:rPr>
                        <a:t>/health</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4A5568"/>
                          </a:solidFill>
                        </a:rPr>
                        <a:t>liveness – process answers</a:t>
                      </a:r>
                      <a:endParaRPr lang="en-US" sz="950" dirty="0"/>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r>
              <a:tr h="274320">
                <a:tc>
                  <a:txBody>
                    <a:bodyPr/>
                    <a:lstStyle/>
                    <a:p>
                      <a:pPr indent="0" marL="0">
                        <a:buNone/>
                      </a:pPr>
                      <a:r>
                        <a:rPr lang="en-US" sz="950" b="1" dirty="0">
                          <a:solidFill>
                            <a:srgbClr val="1FA68F"/>
                          </a:solidFill>
                          <a:latin typeface="Courier New" pitchFamily="34" charset="0"/>
                          <a:ea typeface="Courier New" pitchFamily="34" charset="-122"/>
                          <a:cs typeface="Courier New" pitchFamily="34" charset="-120"/>
                        </a:rPr>
                        <a:t>GET</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0E1726"/>
                          </a:solidFill>
                          <a:latin typeface="Courier New" pitchFamily="34" charset="0"/>
                          <a:ea typeface="Courier New" pitchFamily="34" charset="-122"/>
                          <a:cs typeface="Courier New" pitchFamily="34" charset="-120"/>
                        </a:rPr>
                        <a:t>/ready</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4A5568"/>
                          </a:solidFill>
                        </a:rPr>
                        <a:t>readiness – SELECT 1, 503 if DB down</a:t>
                      </a:r>
                      <a:endParaRPr lang="en-US" sz="950" dirty="0"/>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r>
              <a:tr h="274320">
                <a:tc>
                  <a:txBody>
                    <a:bodyPr/>
                    <a:lstStyle/>
                    <a:p>
                      <a:pPr indent="0" marL="0">
                        <a:buNone/>
                      </a:pPr>
                      <a:r>
                        <a:rPr lang="en-US" sz="950" b="1" dirty="0">
                          <a:solidFill>
                            <a:srgbClr val="1FA68F"/>
                          </a:solidFill>
                          <a:latin typeface="Courier New" pitchFamily="34" charset="0"/>
                          <a:ea typeface="Courier New" pitchFamily="34" charset="-122"/>
                          <a:cs typeface="Courier New" pitchFamily="34" charset="-120"/>
                        </a:rPr>
                        <a:t>GET</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0E1726"/>
                          </a:solidFill>
                          <a:latin typeface="Courier New" pitchFamily="34" charset="0"/>
                          <a:ea typeface="Courier New" pitchFamily="34" charset="-122"/>
                          <a:cs typeface="Courier New" pitchFamily="34" charset="-120"/>
                        </a:rPr>
                        <a:t>/metrics</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4A5568"/>
                          </a:solidFill>
                        </a:rPr>
                        <a:t>Prometheus text format</a:t>
                      </a:r>
                      <a:endParaRPr lang="en-US" sz="950" dirty="0"/>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r>
              <a:tr h="274320">
                <a:tc>
                  <a:txBody>
                    <a:bodyPr/>
                    <a:lstStyle/>
                    <a:p>
                      <a:pPr indent="0" marL="0">
                        <a:buNone/>
                      </a:pPr>
                      <a:r>
                        <a:rPr lang="en-US" sz="950" b="1" dirty="0">
                          <a:solidFill>
                            <a:srgbClr val="1FA68F"/>
                          </a:solidFill>
                          <a:latin typeface="Courier New" pitchFamily="34" charset="0"/>
                          <a:ea typeface="Courier New" pitchFamily="34" charset="-122"/>
                          <a:cs typeface="Courier New" pitchFamily="34" charset="-120"/>
                        </a:rPr>
                        <a:t>GET</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0E1726"/>
                          </a:solidFill>
                          <a:latin typeface="Courier New" pitchFamily="34" charset="0"/>
                          <a:ea typeface="Courier New" pitchFamily="34" charset="-122"/>
                          <a:cs typeface="Courier New" pitchFamily="34" charset="-120"/>
                        </a:rPr>
                        <a:t>/api/entries</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4A5568"/>
                          </a:solidFill>
                        </a:rPr>
                        <a:t>list · ?subject= ?status_filter=</a:t>
                      </a:r>
                      <a:endParaRPr lang="en-US" sz="950" dirty="0"/>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r>
              <a:tr h="274320">
                <a:tc>
                  <a:txBody>
                    <a:bodyPr/>
                    <a:lstStyle/>
                    <a:p>
                      <a:pPr indent="0" marL="0">
                        <a:buNone/>
                      </a:pPr>
                      <a:r>
                        <a:rPr lang="en-US" sz="950" b="1" dirty="0">
                          <a:solidFill>
                            <a:srgbClr val="1FA68F"/>
                          </a:solidFill>
                          <a:latin typeface="Courier New" pitchFamily="34" charset="0"/>
                          <a:ea typeface="Courier New" pitchFamily="34" charset="-122"/>
                          <a:cs typeface="Courier New" pitchFamily="34" charset="-120"/>
                        </a:rPr>
                        <a:t>GET</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0E1726"/>
                          </a:solidFill>
                          <a:latin typeface="Courier New" pitchFamily="34" charset="0"/>
                          <a:ea typeface="Courier New" pitchFamily="34" charset="-122"/>
                          <a:cs typeface="Courier New" pitchFamily="34" charset="-120"/>
                        </a:rPr>
                        <a:t>/api/entries/summary</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4A5568"/>
                          </a:solidFill>
                        </a:rPr>
                        <a:t>totals, goal, by_status, by_subject</a:t>
                      </a:r>
                      <a:endParaRPr lang="en-US" sz="950" dirty="0"/>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r>
              <a:tr h="274320">
                <a:tc>
                  <a:txBody>
                    <a:bodyPr/>
                    <a:lstStyle/>
                    <a:p>
                      <a:pPr indent="0" marL="0">
                        <a:buNone/>
                      </a:pPr>
                      <a:r>
                        <a:rPr lang="en-US" sz="950" b="1" dirty="0">
                          <a:solidFill>
                            <a:srgbClr val="3B6EA5"/>
                          </a:solidFill>
                          <a:latin typeface="Courier New" pitchFamily="34" charset="0"/>
                          <a:ea typeface="Courier New" pitchFamily="34" charset="-122"/>
                          <a:cs typeface="Courier New" pitchFamily="34" charset="-120"/>
                        </a:rPr>
                        <a:t>POST</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0E1726"/>
                          </a:solidFill>
                          <a:latin typeface="Courier New" pitchFamily="34" charset="0"/>
                          <a:ea typeface="Courier New" pitchFamily="34" charset="-122"/>
                          <a:cs typeface="Courier New" pitchFamily="34" charset="-120"/>
                        </a:rPr>
                        <a:t>/api/entries</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4A5568"/>
                          </a:solidFill>
                        </a:rPr>
                        <a:t>201 · pydantic: minutes 1..600</a:t>
                      </a:r>
                      <a:endParaRPr lang="en-US" sz="950" dirty="0"/>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r>
              <a:tr h="274320">
                <a:tc>
                  <a:txBody>
                    <a:bodyPr/>
                    <a:lstStyle/>
                    <a:p>
                      <a:pPr indent="0" marL="0">
                        <a:buNone/>
                      </a:pPr>
                      <a:r>
                        <a:rPr lang="en-US" sz="950" b="1" dirty="0">
                          <a:solidFill>
                            <a:srgbClr val="3B6EA5"/>
                          </a:solidFill>
                          <a:latin typeface="Courier New" pitchFamily="34" charset="0"/>
                          <a:ea typeface="Courier New" pitchFamily="34" charset="-122"/>
                          <a:cs typeface="Courier New" pitchFamily="34" charset="-120"/>
                        </a:rPr>
                        <a:t>PUT</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0E1726"/>
                          </a:solidFill>
                          <a:latin typeface="Courier New" pitchFamily="34" charset="0"/>
                          <a:ea typeface="Courier New" pitchFamily="34" charset="-122"/>
                          <a:cs typeface="Courier New" pitchFamily="34" charset="-120"/>
                        </a:rPr>
                        <a:t>/api/entries/{id}</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4A5568"/>
                          </a:solidFill>
                        </a:rPr>
                        <a:t>partial update · 422 / 404</a:t>
                      </a:r>
                      <a:endParaRPr lang="en-US" sz="950" dirty="0"/>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r>
              <a:tr h="274320">
                <a:tc>
                  <a:txBody>
                    <a:bodyPr/>
                    <a:lstStyle/>
                    <a:p>
                      <a:pPr indent="0" marL="0">
                        <a:buNone/>
                      </a:pPr>
                      <a:r>
                        <a:rPr lang="en-US" sz="950" b="1" dirty="0">
                          <a:solidFill>
                            <a:srgbClr val="D9534F"/>
                          </a:solidFill>
                          <a:latin typeface="Courier New" pitchFamily="34" charset="0"/>
                          <a:ea typeface="Courier New" pitchFamily="34" charset="-122"/>
                          <a:cs typeface="Courier New" pitchFamily="34" charset="-120"/>
                        </a:rPr>
                        <a:t>DELETE</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0E1726"/>
                          </a:solidFill>
                          <a:latin typeface="Courier New" pitchFamily="34" charset="0"/>
                          <a:ea typeface="Courier New" pitchFamily="34" charset="-122"/>
                          <a:cs typeface="Courier New" pitchFamily="34" charset="-120"/>
                        </a:rPr>
                        <a:t>/api/entries/{id}</a:t>
                      </a:r>
                      <a:endParaRPr lang="en-US" sz="950" dirty="0">
                        <a:latin typeface="Courier New" charset="0"/>
                        <a:ea typeface="Courier New" charset="0"/>
                        <a:cs typeface="Courier New"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950" dirty="0">
                          <a:solidFill>
                            <a:srgbClr val="4A5568"/>
                          </a:solidFill>
                        </a:rPr>
                        <a:t>204</a:t>
                      </a:r>
                      <a:endParaRPr lang="en-US" sz="950" dirty="0"/>
                    </a:p>
                  </a:txBody>
                  <a:tcPr marL="50800" marR="50800" marT="25400" marB="25400" anchor="ctr">
                    <a:lnL w="0" cap="flat" cmpd="sng" algn="ctr">
                      <a:noFill/>
                    </a:lnL>
                    <a:lnR w="0" cap="flat" cmpd="sng" algn="ctr">
                      <a:noFill/>
                    </a:lnR>
                    <a:lnT w="0" cap="flat" cmpd="sng" algn="ctr">
                      <a:noFill/>
                    </a:lnT>
                    <a:lnB w="0" cap="flat" cmpd="sng" algn="ctr">
                      <a:noFill/>
                    </a:lnB>
                    <a:solidFill>
                      <a:srgbClr val="F1F4F8"/>
                    </a:solidFill>
                  </a:tcPr>
                </a:tc>
              </a:tr>
            </a:tbl>
          </a:graphicData>
        </a:graphic>
      </p:graphicFrame>
      <p:sp>
        <p:nvSpPr>
          <p:cNvPr id="6" name="config note"/>
          <p:cNvSpPr txBox="1"/>
          <p:nvPr/>
        </p:nvSpPr>
        <p:spPr>
          <a:xfrm>
            <a:off x="457200" y="3429000"/>
            <a:ext cx="4114800" cy="1097280"/>
          </a:xfrm>
          <a:prstGeom prst="rect">
            <a:avLst/>
          </a:prstGeom>
          <a:noFill/>
          <a:ln/>
        </p:spPr>
        <p:txBody>
          <a:bodyPr wrap="square" lIns="0" tIns="0" rIns="0" bIns="0" rtlCol="0" anchor="t"/>
          <a:lstStyle/>
          <a:p>
            <a:pPr indent="0" marL="0">
              <a:buNone/>
            </a:pPr>
            <a:r>
              <a:rPr lang="en-US" sz="1100" b="1" dirty="0">
                <a:solidFill>
                  <a:schemeClr val="tx2"/>
                </a:solidFill>
              </a:rPr>
              <a:t>12-factor config: </a:t>
            </a:r>
            <a:pPr indent="0" marL="0">
              <a:buNone/>
            </a:pPr>
            <a:r>
              <a:rPr lang="en-US" sz="1100" dirty="0">
                <a:solidFill>
                  <a:schemeClr val="tx2"/>
                </a:solidFill>
              </a:rPr>
              <a:t>DATABASE_URL, APP_ENV, DAILY_GOAL_MINUTES, CORS_ORIGINS are env vars – exactly what the ConfigMap and Secret inject. Alembic migration 0001 runs from the entrypoint before uvicorn, so a fresh DB is ready on first boot.</a:t>
            </a:r>
            <a:endParaRPr lang="en-US" sz="1100" dirty="0"/>
          </a:p>
        </p:txBody>
      </p:sp>
      <p:sp>
        <p:nvSpPr>
          <p:cNvPr id="7" name="caption"/>
          <p:cNvSpPr txBox="1"/>
          <p:nvPr/>
        </p:nvSpPr>
        <p:spPr>
          <a:xfrm>
            <a:off x="4754880" y="3749040"/>
            <a:ext cx="3931920" cy="365760"/>
          </a:xfrm>
          <a:prstGeom prst="rect">
            <a:avLst/>
          </a:prstGeom>
          <a:noFill/>
          <a:ln/>
        </p:spPr>
        <p:txBody>
          <a:bodyPr wrap="square" lIns="0" tIns="0" rIns="0" bIns="0" rtlCol="0" anchor="ctr"/>
          <a:lstStyle/>
          <a:p>
            <a:pPr indent="0" marL="0">
              <a:buNone/>
            </a:pPr>
            <a:r>
              <a:rPr lang="en-US" sz="1000" i="1" dirty="0">
                <a:solidFill>
                  <a:schemeClr val="tx2"/>
                </a:solidFill>
              </a:rPr>
              <a:t>FastAPI Swagger at /docs – the demo creates, updates and deletes an entry from here.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M2 + M4  Tests gate the build; images run non-root</a:t>
            </a:r>
            <a:endParaRPr lang="en-US" sz="2600" dirty="0"/>
          </a:p>
        </p:txBody>
      </p:sp>
      <p:sp>
        <p:nvSpPr>
          <p:cNvPr id="3" name="card 11 pytest cases over 7 endpoints"/>
          <p:cNvSpPr/>
          <p:nvPr/>
        </p:nvSpPr>
        <p:spPr>
          <a:xfrm>
            <a:off x="457200" y="1097280"/>
            <a:ext cx="4023360" cy="3383280"/>
          </a:xfrm>
          <a:prstGeom prst="roundRect">
            <a:avLst>
              <a:gd name="adj" fmla="val 2162"/>
            </a:avLst>
          </a:prstGeom>
          <a:solidFill>
            <a:schemeClr val="bg2"/>
          </a:solidFill>
          <a:ln w="12700">
            <a:solidFill>
              <a:schemeClr val="bg2"/>
            </a:solidFill>
            <a:prstDash val="solid"/>
          </a:ln>
        </p:spPr>
      </p:sp>
      <p:sp>
        <p:nvSpPr>
          <p:cNvPr id="4" name="tag M2"/>
          <p:cNvSpPr/>
          <p:nvPr/>
        </p:nvSpPr>
        <p:spPr>
          <a:xfrm>
            <a:off x="594360" y="1225296"/>
            <a:ext cx="329184" cy="329184"/>
          </a:xfrm>
          <a:prstGeom prst="ellipse">
            <a:avLst/>
          </a:prstGeom>
          <a:solidFill>
            <a:srgbClr val="1FA68F"/>
          </a:solidFill>
          <a:ln w="12700">
            <a:solidFill>
              <a:srgbClr val="1FA68F"/>
            </a:solidFill>
            <a:prstDash val="solid"/>
          </a:ln>
        </p:spPr>
      </p:sp>
      <p:sp>
        <p:nvSpPr>
          <p:cNvPr id="5" name="tag label M2"/>
          <p:cNvSpPr txBox="1"/>
          <p:nvPr/>
        </p:nvSpPr>
        <p:spPr>
          <a:xfrm>
            <a:off x="594360" y="1225296"/>
            <a:ext cx="329184" cy="329184"/>
          </a:xfrm>
          <a:prstGeom prst="rect">
            <a:avLst/>
          </a:prstGeom>
          <a:noFill/>
          <a:ln/>
        </p:spPr>
        <p:txBody>
          <a:bodyPr wrap="square" lIns="0" tIns="0" rIns="0" bIns="0" rtlCol="0" anchor="ctr"/>
          <a:lstStyle/>
          <a:p>
            <a:pPr algn="ctr" indent="0" marL="0">
              <a:buNone/>
            </a:pPr>
            <a:r>
              <a:rPr lang="en-US" sz="900" b="1" dirty="0">
                <a:solidFill>
                  <a:schemeClr val="bg1"/>
                </a:solidFill>
              </a:rPr>
              <a:t>M2</a:t>
            </a:r>
            <a:endParaRPr lang="en-US" sz="900" dirty="0"/>
          </a:p>
        </p:txBody>
      </p:sp>
      <p:sp>
        <p:nvSpPr>
          <p:cNvPr id="6" name="card title 11 pytest cases over 7 endpoints"/>
          <p:cNvSpPr txBox="1"/>
          <p:nvPr/>
        </p:nvSpPr>
        <p:spPr>
          <a:xfrm>
            <a:off x="1005840" y="1225296"/>
            <a:ext cx="3337560" cy="329184"/>
          </a:xfrm>
          <a:prstGeom prst="rect">
            <a:avLst/>
          </a:prstGeom>
          <a:noFill/>
          <a:ln/>
        </p:spPr>
        <p:txBody>
          <a:bodyPr wrap="square" lIns="0" tIns="0" rIns="0" bIns="0" rtlCol="0" anchor="ctr"/>
          <a:lstStyle/>
          <a:p>
            <a:pPr indent="0" marL="0">
              <a:buNone/>
            </a:pPr>
            <a:r>
              <a:rPr lang="en-US" sz="1400" b="1" dirty="0">
                <a:solidFill>
                  <a:schemeClr val="tx1"/>
                </a:solidFill>
              </a:rPr>
              <a:t>11 pytest cases over 7 endpoints</a:t>
            </a:r>
            <a:endParaRPr lang="en-US" sz="1400" dirty="0"/>
          </a:p>
        </p:txBody>
      </p:sp>
      <p:sp>
        <p:nvSpPr>
          <p:cNvPr id="7" name="card body 11 pytest cases over 7 endpoints"/>
          <p:cNvSpPr txBox="1"/>
          <p:nvPr/>
        </p:nvSpPr>
        <p:spPr>
          <a:xfrm>
            <a:off x="621792" y="1609344"/>
            <a:ext cx="3694176" cy="277977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chemeClr val="tx2"/>
                </a:solidFill>
              </a:rPr>
              <a:t>SQLite in-memory via conftest.py – no PostgreSQL needed on the runner</a:t>
            </a:r>
            <a:endParaRPr lang="en-US" sz="1100" dirty="0"/>
          </a:p>
          <a:p>
            <a:pPr marL="127000" indent="-127000">
              <a:spcAft>
                <a:spcPts val="300"/>
              </a:spcAft>
              <a:buSzPct val="100000"/>
              <a:buChar char="•"/>
            </a:pPr>
            <a:r>
              <a:rPr lang="en-US" sz="1100" dirty="0">
                <a:solidFill>
                  <a:schemeClr val="tx2"/>
                </a:solidFill>
              </a:rPr>
              <a:t>Covers validation (422), not-found (404), filters and the summary maths</a:t>
            </a:r>
            <a:endParaRPr lang="en-US" sz="1100" dirty="0"/>
          </a:p>
          <a:p>
            <a:pPr marL="127000" indent="-127000">
              <a:spcAft>
                <a:spcPts val="300"/>
              </a:spcAft>
              <a:buSzPct val="100000"/>
              <a:buChar char="•"/>
            </a:pPr>
            <a:r>
              <a:rPr lang="en-US" sz="1100" dirty="0">
                <a:solidFill>
                  <a:schemeClr val="tx2"/>
                </a:solidFill>
              </a:rPr>
              <a:t>pytest -v --cov=app  →  11 passed, main.py 93% covered, 0.37s</a:t>
            </a:r>
            <a:endParaRPr lang="en-US" sz="1100" dirty="0"/>
          </a:p>
          <a:p>
            <a:pPr marL="127000" indent="-127000">
              <a:spcAft>
                <a:spcPts val="300"/>
              </a:spcAft>
              <a:buSzPct val="100000"/>
              <a:buChar char="•"/>
            </a:pPr>
            <a:r>
              <a:rPr lang="en-US" sz="1100" dirty="0">
                <a:solidFill>
                  <a:schemeClr val="tx2"/>
                </a:solidFill>
              </a:rPr>
              <a:t>First job of the pipeline; every other job needs: test – a red test means no image is ever built or pushed</a:t>
            </a:r>
            <a:endParaRPr lang="en-US" sz="1100" dirty="0"/>
          </a:p>
        </p:txBody>
      </p:sp>
      <p:sp>
        <p:nvSpPr>
          <p:cNvPr id="8" name="card Two Dockerfiles, two non-root users"/>
          <p:cNvSpPr/>
          <p:nvPr/>
        </p:nvSpPr>
        <p:spPr>
          <a:xfrm>
            <a:off x="4663440" y="1097280"/>
            <a:ext cx="4023360" cy="3383280"/>
          </a:xfrm>
          <a:prstGeom prst="roundRect">
            <a:avLst>
              <a:gd name="adj" fmla="val 2162"/>
            </a:avLst>
          </a:prstGeom>
          <a:solidFill>
            <a:schemeClr val="bg2"/>
          </a:solidFill>
          <a:ln w="12700">
            <a:solidFill>
              <a:schemeClr val="bg2"/>
            </a:solidFill>
            <a:prstDash val="solid"/>
          </a:ln>
        </p:spPr>
      </p:sp>
      <p:sp>
        <p:nvSpPr>
          <p:cNvPr id="9" name="tag M4"/>
          <p:cNvSpPr/>
          <p:nvPr/>
        </p:nvSpPr>
        <p:spPr>
          <a:xfrm>
            <a:off x="4800600" y="1225296"/>
            <a:ext cx="329184" cy="329184"/>
          </a:xfrm>
          <a:prstGeom prst="ellipse">
            <a:avLst/>
          </a:prstGeom>
          <a:solidFill>
            <a:srgbClr val="3B6EA5"/>
          </a:solidFill>
          <a:ln w="12700">
            <a:solidFill>
              <a:srgbClr val="3B6EA5"/>
            </a:solidFill>
            <a:prstDash val="solid"/>
          </a:ln>
        </p:spPr>
      </p:sp>
      <p:sp>
        <p:nvSpPr>
          <p:cNvPr id="10" name="tag label M4"/>
          <p:cNvSpPr txBox="1"/>
          <p:nvPr/>
        </p:nvSpPr>
        <p:spPr>
          <a:xfrm>
            <a:off x="4800600" y="1225296"/>
            <a:ext cx="329184" cy="329184"/>
          </a:xfrm>
          <a:prstGeom prst="rect">
            <a:avLst/>
          </a:prstGeom>
          <a:noFill/>
          <a:ln/>
        </p:spPr>
        <p:txBody>
          <a:bodyPr wrap="square" lIns="0" tIns="0" rIns="0" bIns="0" rtlCol="0" anchor="ctr"/>
          <a:lstStyle/>
          <a:p>
            <a:pPr algn="ctr" indent="0" marL="0">
              <a:buNone/>
            </a:pPr>
            <a:r>
              <a:rPr lang="en-US" sz="900" b="1" dirty="0">
                <a:solidFill>
                  <a:schemeClr val="bg1"/>
                </a:solidFill>
              </a:rPr>
              <a:t>M4</a:t>
            </a:r>
            <a:endParaRPr lang="en-US" sz="900" dirty="0"/>
          </a:p>
        </p:txBody>
      </p:sp>
      <p:sp>
        <p:nvSpPr>
          <p:cNvPr id="11" name="card title Two Dockerfiles, two non-root users"/>
          <p:cNvSpPr txBox="1"/>
          <p:nvPr/>
        </p:nvSpPr>
        <p:spPr>
          <a:xfrm>
            <a:off x="5212080" y="1225296"/>
            <a:ext cx="3337560" cy="329184"/>
          </a:xfrm>
          <a:prstGeom prst="rect">
            <a:avLst/>
          </a:prstGeom>
          <a:noFill/>
          <a:ln/>
        </p:spPr>
        <p:txBody>
          <a:bodyPr wrap="square" lIns="0" tIns="0" rIns="0" bIns="0" rtlCol="0" anchor="ctr"/>
          <a:lstStyle/>
          <a:p>
            <a:pPr indent="0" marL="0">
              <a:buNone/>
            </a:pPr>
            <a:r>
              <a:rPr lang="en-US" sz="1400" b="1" dirty="0">
                <a:solidFill>
                  <a:schemeClr val="tx1"/>
                </a:solidFill>
              </a:rPr>
              <a:t>Two Dockerfiles, two non-root users</a:t>
            </a:r>
            <a:endParaRPr lang="en-US" sz="1400" dirty="0"/>
          </a:p>
        </p:txBody>
      </p:sp>
      <p:sp>
        <p:nvSpPr>
          <p:cNvPr id="12" name="card body Two Dockerfiles, two non-root users"/>
          <p:cNvSpPr txBox="1"/>
          <p:nvPr/>
        </p:nvSpPr>
        <p:spPr>
          <a:xfrm>
            <a:off x="4828032" y="1609344"/>
            <a:ext cx="3694176" cy="277977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chemeClr val="tx2"/>
                </a:solidFill>
              </a:rPr>
              <a:t>backend: python:3.12-slim, uid 10001, HEALTHCHECK /health, entrypoint = migrate then uvicorn</a:t>
            </a:r>
            <a:endParaRPr lang="en-US" sz="1100" dirty="0"/>
          </a:p>
          <a:p>
            <a:pPr marL="127000" indent="-127000">
              <a:spcAft>
                <a:spcPts val="300"/>
              </a:spcAft>
              <a:buSzPct val="100000"/>
              <a:buChar char="•"/>
            </a:pPr>
            <a:r>
              <a:rPr lang="en-US" sz="1100" dirty="0">
                <a:solidFill>
                  <a:schemeClr val="tx2"/>
                </a:solidFill>
              </a:rPr>
              <a:t>frontend: node:24-alpine builds dist/ → nginxinc/nginx-unprivileged, uid 101, port 8080</a:t>
            </a:r>
            <a:endParaRPr lang="en-US" sz="1100" dirty="0"/>
          </a:p>
          <a:p>
            <a:pPr marL="127000" indent="-127000">
              <a:spcAft>
                <a:spcPts val="300"/>
              </a:spcAft>
              <a:buSzPct val="100000"/>
              <a:buChar char="•"/>
            </a:pPr>
            <a:r>
              <a:rPr lang="en-US" sz="1100" dirty="0">
                <a:solidFill>
                  <a:schemeClr val="tx2"/>
                </a:solidFill>
              </a:rPr>
              <a:t>docker compose: postgres:16-alpine with pg_isready healthcheck, backend waits for service_healthy</a:t>
            </a:r>
            <a:endParaRPr lang="en-US" sz="1100" dirty="0"/>
          </a:p>
          <a:p>
            <a:pPr marL="127000" indent="-127000">
              <a:spcAft>
                <a:spcPts val="300"/>
              </a:spcAft>
              <a:buSzPct val="100000"/>
              <a:buChar char="•"/>
            </a:pPr>
            <a:r>
              <a:rPr lang="en-US" sz="1100" dirty="0">
                <a:solidFill>
                  <a:schemeClr val="tx2"/>
                </a:solidFill>
              </a:rPr>
              <a:t>Rows survived docker compose up --build – data lives in the pgdata volume, not the container</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M5  Pipeline: 8 jobs, 4 gates, one commit back</a:t>
            </a:r>
            <a:endParaRPr lang="en-US" sz="2600" dirty="0"/>
          </a:p>
        </p:txBody>
      </p:sp>
      <p:sp>
        <p:nvSpPr>
          <p:cNvPr id="3" name="box test"/>
          <p:cNvSpPr/>
          <p:nvPr/>
        </p:nvSpPr>
        <p:spPr>
          <a:xfrm>
            <a:off x="457200" y="1920240"/>
            <a:ext cx="1097280" cy="640080"/>
          </a:xfrm>
          <a:prstGeom prst="roundRect">
            <a:avLst>
              <a:gd name="adj" fmla="val 8571"/>
            </a:avLst>
          </a:prstGeom>
          <a:solidFill>
            <a:schemeClr val="accent2"/>
          </a:solidFill>
          <a:ln w="12700">
            <a:solidFill>
              <a:schemeClr val="accent2"/>
            </a:solidFill>
            <a:prstDash val="solid"/>
          </a:ln>
        </p:spPr>
      </p:sp>
      <p:sp>
        <p:nvSpPr>
          <p:cNvPr id="4" name="box text test"/>
          <p:cNvSpPr txBox="1"/>
          <p:nvPr/>
        </p:nvSpPr>
        <p:spPr>
          <a:xfrm>
            <a:off x="457200" y="1920240"/>
            <a:ext cx="1097280" cy="640080"/>
          </a:xfrm>
          <a:prstGeom prst="rect">
            <a:avLst/>
          </a:prstGeom>
          <a:noFill/>
          <a:ln/>
        </p:spPr>
        <p:txBody>
          <a:bodyPr wrap="square" lIns="50800" tIns="50800" rIns="50800" bIns="50800" rtlCol="0" anchor="ctr"/>
          <a:lstStyle/>
          <a:p>
            <a:pPr algn="ctr" indent="0" marL="0">
              <a:buNone/>
            </a:pPr>
            <a:r>
              <a:rPr lang="en-US" sz="1100" b="1" dirty="0">
                <a:solidFill>
                  <a:schemeClr val="bg1"/>
                </a:solidFill>
              </a:rPr>
              <a:t>test</a:t>
            </a:r>
            <a:endParaRPr lang="en-US" sz="1100" dirty="0"/>
          </a:p>
          <a:p>
            <a:pPr algn="ctr" indent="0" marL="0">
              <a:buNone/>
            </a:pPr>
            <a:r>
              <a:rPr lang="en-US" sz="850" dirty="0">
                <a:solidFill>
                  <a:schemeClr val="tx2"/>
                </a:solidFill>
              </a:rPr>
              <a:t>pytest + cov</a:t>
            </a:r>
            <a:endParaRPr lang="en-US" sz="1100" dirty="0"/>
          </a:p>
        </p:txBody>
      </p:sp>
      <p:sp>
        <p:nvSpPr>
          <p:cNvPr id="5" name="box sast"/>
          <p:cNvSpPr/>
          <p:nvPr/>
        </p:nvSpPr>
        <p:spPr>
          <a:xfrm>
            <a:off x="2011680" y="1234440"/>
            <a:ext cx="1554480" cy="384048"/>
          </a:xfrm>
          <a:prstGeom prst="roundRect">
            <a:avLst>
              <a:gd name="adj" fmla="val 14286"/>
            </a:avLst>
          </a:prstGeom>
          <a:solidFill>
            <a:schemeClr val="bg2"/>
          </a:solidFill>
          <a:ln w="12700">
            <a:solidFill>
              <a:schemeClr val="bg2"/>
            </a:solidFill>
            <a:prstDash val="solid"/>
          </a:ln>
        </p:spPr>
      </p:sp>
      <p:sp>
        <p:nvSpPr>
          <p:cNvPr id="6" name="box text sast"/>
          <p:cNvSpPr txBox="1"/>
          <p:nvPr/>
        </p:nvSpPr>
        <p:spPr>
          <a:xfrm>
            <a:off x="2011680" y="1234440"/>
            <a:ext cx="1554480" cy="384048"/>
          </a:xfrm>
          <a:prstGeom prst="rect">
            <a:avLst/>
          </a:prstGeom>
          <a:noFill/>
          <a:ln/>
        </p:spPr>
        <p:txBody>
          <a:bodyPr wrap="square" lIns="50800" tIns="50800" rIns="50800" bIns="50800" rtlCol="0" anchor="ctr"/>
          <a:lstStyle/>
          <a:p>
            <a:pPr algn="ctr" indent="0" marL="0">
              <a:buNone/>
            </a:pPr>
            <a:r>
              <a:rPr lang="en-US" sz="1000" b="1" dirty="0">
                <a:solidFill>
                  <a:schemeClr val="tx1"/>
                </a:solidFill>
              </a:rPr>
              <a:t>sast</a:t>
            </a:r>
            <a:pPr algn="ctr" indent="0" marL="0">
              <a:buNone/>
            </a:pPr>
            <a:r>
              <a:rPr lang="en-US" sz="850" dirty="0">
                <a:solidFill>
                  <a:schemeClr val="tx2"/>
                </a:solidFill>
              </a:rPr>
              <a:t>   bandit · semgrep</a:t>
            </a:r>
            <a:endParaRPr lang="en-US" sz="1000" dirty="0"/>
          </a:p>
        </p:txBody>
      </p:sp>
      <p:sp>
        <p:nvSpPr>
          <p:cNvPr id="7" name="arrow"/>
          <p:cNvSpPr/>
          <p:nvPr/>
        </p:nvSpPr>
        <p:spPr>
          <a:xfrm flipV="1">
            <a:off x="1554480" y="1426464"/>
            <a:ext cx="457200" cy="813816"/>
          </a:xfrm>
          <a:prstGeom prst="line">
            <a:avLst/>
          </a:prstGeom>
          <a:noFill/>
          <a:ln w="19050">
            <a:solidFill>
              <a:srgbClr val="4A5568"/>
            </a:solidFill>
            <a:prstDash val="solid"/>
            <a:tailEnd type="triangle"/>
          </a:ln>
        </p:spPr>
      </p:sp>
      <p:sp>
        <p:nvSpPr>
          <p:cNvPr id="8" name="arrow"/>
          <p:cNvSpPr/>
          <p:nvPr/>
        </p:nvSpPr>
        <p:spPr>
          <a:xfrm>
            <a:off x="3566160" y="1426464"/>
            <a:ext cx="457200" cy="813816"/>
          </a:xfrm>
          <a:prstGeom prst="line">
            <a:avLst/>
          </a:prstGeom>
          <a:noFill/>
          <a:ln w="19050">
            <a:solidFill>
              <a:srgbClr val="4A5568"/>
            </a:solidFill>
            <a:prstDash val="solid"/>
            <a:tailEnd type="triangle"/>
          </a:ln>
        </p:spPr>
      </p:sp>
      <p:sp>
        <p:nvSpPr>
          <p:cNvPr id="9" name="box sca"/>
          <p:cNvSpPr/>
          <p:nvPr/>
        </p:nvSpPr>
        <p:spPr>
          <a:xfrm>
            <a:off x="2011680" y="1691640"/>
            <a:ext cx="1554480" cy="384048"/>
          </a:xfrm>
          <a:prstGeom prst="roundRect">
            <a:avLst>
              <a:gd name="adj" fmla="val 14286"/>
            </a:avLst>
          </a:prstGeom>
          <a:solidFill>
            <a:schemeClr val="bg2"/>
          </a:solidFill>
          <a:ln w="12700">
            <a:solidFill>
              <a:schemeClr val="bg2"/>
            </a:solidFill>
            <a:prstDash val="solid"/>
          </a:ln>
        </p:spPr>
      </p:sp>
      <p:sp>
        <p:nvSpPr>
          <p:cNvPr id="10" name="box text sca"/>
          <p:cNvSpPr txBox="1"/>
          <p:nvPr/>
        </p:nvSpPr>
        <p:spPr>
          <a:xfrm>
            <a:off x="2011680" y="1691640"/>
            <a:ext cx="1554480" cy="384048"/>
          </a:xfrm>
          <a:prstGeom prst="rect">
            <a:avLst/>
          </a:prstGeom>
          <a:noFill/>
          <a:ln/>
        </p:spPr>
        <p:txBody>
          <a:bodyPr wrap="square" lIns="50800" tIns="50800" rIns="50800" bIns="50800" rtlCol="0" anchor="ctr"/>
          <a:lstStyle/>
          <a:p>
            <a:pPr algn="ctr" indent="0" marL="0">
              <a:buNone/>
            </a:pPr>
            <a:r>
              <a:rPr lang="en-US" sz="1000" b="1" dirty="0">
                <a:solidFill>
                  <a:schemeClr val="tx1"/>
                </a:solidFill>
              </a:rPr>
              <a:t>sca</a:t>
            </a:r>
            <a:pPr algn="ctr" indent="0" marL="0">
              <a:buNone/>
            </a:pPr>
            <a:r>
              <a:rPr lang="en-US" sz="850" dirty="0">
                <a:solidFill>
                  <a:schemeClr val="tx2"/>
                </a:solidFill>
              </a:rPr>
              <a:t>   pip-audit · npm audit</a:t>
            </a:r>
            <a:endParaRPr lang="en-US" sz="1000" dirty="0"/>
          </a:p>
        </p:txBody>
      </p:sp>
      <p:sp>
        <p:nvSpPr>
          <p:cNvPr id="11" name="arrow"/>
          <p:cNvSpPr/>
          <p:nvPr/>
        </p:nvSpPr>
        <p:spPr>
          <a:xfrm flipV="1">
            <a:off x="1554480" y="1883664"/>
            <a:ext cx="457200" cy="356616"/>
          </a:xfrm>
          <a:prstGeom prst="line">
            <a:avLst/>
          </a:prstGeom>
          <a:noFill/>
          <a:ln w="19050">
            <a:solidFill>
              <a:srgbClr val="4A5568"/>
            </a:solidFill>
            <a:prstDash val="solid"/>
            <a:tailEnd type="triangle"/>
          </a:ln>
        </p:spPr>
      </p:sp>
      <p:sp>
        <p:nvSpPr>
          <p:cNvPr id="12" name="arrow"/>
          <p:cNvSpPr/>
          <p:nvPr/>
        </p:nvSpPr>
        <p:spPr>
          <a:xfrm>
            <a:off x="3566160" y="1883664"/>
            <a:ext cx="457200" cy="356616"/>
          </a:xfrm>
          <a:prstGeom prst="line">
            <a:avLst/>
          </a:prstGeom>
          <a:noFill/>
          <a:ln w="19050">
            <a:solidFill>
              <a:srgbClr val="4A5568"/>
            </a:solidFill>
            <a:prstDash val="solid"/>
            <a:tailEnd type="triangle"/>
          </a:ln>
        </p:spPr>
      </p:sp>
      <p:sp>
        <p:nvSpPr>
          <p:cNvPr id="13" name="box secret-scan"/>
          <p:cNvSpPr/>
          <p:nvPr/>
        </p:nvSpPr>
        <p:spPr>
          <a:xfrm>
            <a:off x="2011680" y="2148840"/>
            <a:ext cx="1554480" cy="384048"/>
          </a:xfrm>
          <a:prstGeom prst="roundRect">
            <a:avLst>
              <a:gd name="adj" fmla="val 14286"/>
            </a:avLst>
          </a:prstGeom>
          <a:solidFill>
            <a:schemeClr val="bg2"/>
          </a:solidFill>
          <a:ln w="12700">
            <a:solidFill>
              <a:schemeClr val="bg2"/>
            </a:solidFill>
            <a:prstDash val="solid"/>
          </a:ln>
        </p:spPr>
      </p:sp>
      <p:sp>
        <p:nvSpPr>
          <p:cNvPr id="14" name="box text secret-scan"/>
          <p:cNvSpPr txBox="1"/>
          <p:nvPr/>
        </p:nvSpPr>
        <p:spPr>
          <a:xfrm>
            <a:off x="2011680" y="2148840"/>
            <a:ext cx="1554480" cy="384048"/>
          </a:xfrm>
          <a:prstGeom prst="rect">
            <a:avLst/>
          </a:prstGeom>
          <a:noFill/>
          <a:ln/>
        </p:spPr>
        <p:txBody>
          <a:bodyPr wrap="square" lIns="50800" tIns="50800" rIns="50800" bIns="50800" rtlCol="0" anchor="ctr"/>
          <a:lstStyle/>
          <a:p>
            <a:pPr algn="ctr" indent="0" marL="0">
              <a:buNone/>
            </a:pPr>
            <a:r>
              <a:rPr lang="en-US" sz="1000" b="1" dirty="0">
                <a:solidFill>
                  <a:schemeClr val="tx1"/>
                </a:solidFill>
              </a:rPr>
              <a:t>secret-scan</a:t>
            </a:r>
            <a:pPr algn="ctr" indent="0" marL="0">
              <a:buNone/>
            </a:pPr>
            <a:r>
              <a:rPr lang="en-US" sz="850" dirty="0">
                <a:solidFill>
                  <a:schemeClr val="tx2"/>
                </a:solidFill>
              </a:rPr>
              <a:t>   gitleaks</a:t>
            </a:r>
            <a:endParaRPr lang="en-US" sz="1000" dirty="0"/>
          </a:p>
        </p:txBody>
      </p:sp>
      <p:sp>
        <p:nvSpPr>
          <p:cNvPr id="15" name="arrow"/>
          <p:cNvSpPr/>
          <p:nvPr/>
        </p:nvSpPr>
        <p:spPr>
          <a:xfrm>
            <a:off x="1554480" y="2240280"/>
            <a:ext cx="457200" cy="100584"/>
          </a:xfrm>
          <a:prstGeom prst="line">
            <a:avLst/>
          </a:prstGeom>
          <a:noFill/>
          <a:ln w="19050">
            <a:solidFill>
              <a:srgbClr val="4A5568"/>
            </a:solidFill>
            <a:prstDash val="solid"/>
            <a:tailEnd type="triangle"/>
          </a:ln>
        </p:spPr>
      </p:sp>
      <p:sp>
        <p:nvSpPr>
          <p:cNvPr id="16" name="arrow"/>
          <p:cNvSpPr/>
          <p:nvPr/>
        </p:nvSpPr>
        <p:spPr>
          <a:xfrm flipV="1">
            <a:off x="3566160" y="2240280"/>
            <a:ext cx="457200" cy="100584"/>
          </a:xfrm>
          <a:prstGeom prst="line">
            <a:avLst/>
          </a:prstGeom>
          <a:noFill/>
          <a:ln w="19050">
            <a:solidFill>
              <a:srgbClr val="4A5568"/>
            </a:solidFill>
            <a:prstDash val="solid"/>
            <a:tailEnd type="triangle"/>
          </a:ln>
        </p:spPr>
      </p:sp>
      <p:sp>
        <p:nvSpPr>
          <p:cNvPr id="17" name="box helm-lint"/>
          <p:cNvSpPr/>
          <p:nvPr/>
        </p:nvSpPr>
        <p:spPr>
          <a:xfrm>
            <a:off x="2011680" y="2606040"/>
            <a:ext cx="1554480" cy="384048"/>
          </a:xfrm>
          <a:prstGeom prst="roundRect">
            <a:avLst>
              <a:gd name="adj" fmla="val 14286"/>
            </a:avLst>
          </a:prstGeom>
          <a:solidFill>
            <a:schemeClr val="bg2"/>
          </a:solidFill>
          <a:ln w="12700">
            <a:solidFill>
              <a:schemeClr val="bg2"/>
            </a:solidFill>
            <a:prstDash val="solid"/>
          </a:ln>
        </p:spPr>
      </p:sp>
      <p:sp>
        <p:nvSpPr>
          <p:cNvPr id="18" name="box text helm-lint"/>
          <p:cNvSpPr txBox="1"/>
          <p:nvPr/>
        </p:nvSpPr>
        <p:spPr>
          <a:xfrm>
            <a:off x="2011680" y="2606040"/>
            <a:ext cx="1554480" cy="384048"/>
          </a:xfrm>
          <a:prstGeom prst="rect">
            <a:avLst/>
          </a:prstGeom>
          <a:noFill/>
          <a:ln/>
        </p:spPr>
        <p:txBody>
          <a:bodyPr wrap="square" lIns="50800" tIns="50800" rIns="50800" bIns="50800" rtlCol="0" anchor="ctr"/>
          <a:lstStyle/>
          <a:p>
            <a:pPr algn="ctr" indent="0" marL="0">
              <a:buNone/>
            </a:pPr>
            <a:r>
              <a:rPr lang="en-US" sz="1000" b="1" dirty="0">
                <a:solidFill>
                  <a:schemeClr val="tx1"/>
                </a:solidFill>
              </a:rPr>
              <a:t>helm-lint</a:t>
            </a:r>
            <a:pPr algn="ctr" indent="0" marL="0">
              <a:buNone/>
            </a:pPr>
            <a:r>
              <a:rPr lang="en-US" sz="850" dirty="0">
                <a:solidFill>
                  <a:schemeClr val="tx2"/>
                </a:solidFill>
              </a:rPr>
              <a:t>   lint + template</a:t>
            </a:r>
            <a:endParaRPr lang="en-US" sz="1000" dirty="0"/>
          </a:p>
        </p:txBody>
      </p:sp>
      <p:sp>
        <p:nvSpPr>
          <p:cNvPr id="19" name="arrow"/>
          <p:cNvSpPr/>
          <p:nvPr/>
        </p:nvSpPr>
        <p:spPr>
          <a:xfrm>
            <a:off x="1554480" y="2240280"/>
            <a:ext cx="457200" cy="557784"/>
          </a:xfrm>
          <a:prstGeom prst="line">
            <a:avLst/>
          </a:prstGeom>
          <a:noFill/>
          <a:ln w="19050">
            <a:solidFill>
              <a:srgbClr val="4A5568"/>
            </a:solidFill>
            <a:prstDash val="solid"/>
            <a:tailEnd type="triangle"/>
          </a:ln>
        </p:spPr>
      </p:sp>
      <p:sp>
        <p:nvSpPr>
          <p:cNvPr id="20" name="arrow"/>
          <p:cNvSpPr/>
          <p:nvPr/>
        </p:nvSpPr>
        <p:spPr>
          <a:xfrm flipV="1">
            <a:off x="3566160" y="2240280"/>
            <a:ext cx="457200" cy="557784"/>
          </a:xfrm>
          <a:prstGeom prst="line">
            <a:avLst/>
          </a:prstGeom>
          <a:noFill/>
          <a:ln w="19050">
            <a:solidFill>
              <a:srgbClr val="4A5568"/>
            </a:solidFill>
            <a:prstDash val="solid"/>
            <a:tailEnd type="triangle"/>
          </a:ln>
        </p:spPr>
      </p:sp>
      <p:sp>
        <p:nvSpPr>
          <p:cNvPr id="21" name="box build-and-push"/>
          <p:cNvSpPr/>
          <p:nvPr/>
        </p:nvSpPr>
        <p:spPr>
          <a:xfrm>
            <a:off x="4023360" y="1920240"/>
            <a:ext cx="1371600" cy="640080"/>
          </a:xfrm>
          <a:prstGeom prst="roundRect">
            <a:avLst>
              <a:gd name="adj" fmla="val 8571"/>
            </a:avLst>
          </a:prstGeom>
          <a:solidFill>
            <a:schemeClr val="bg2"/>
          </a:solidFill>
          <a:ln w="12700">
            <a:solidFill>
              <a:schemeClr val="bg2"/>
            </a:solidFill>
            <a:prstDash val="solid"/>
          </a:ln>
        </p:spPr>
      </p:sp>
      <p:sp>
        <p:nvSpPr>
          <p:cNvPr id="22" name="box text build-and-push"/>
          <p:cNvSpPr txBox="1"/>
          <p:nvPr/>
        </p:nvSpPr>
        <p:spPr>
          <a:xfrm>
            <a:off x="4023360" y="1920240"/>
            <a:ext cx="1371600" cy="640080"/>
          </a:xfrm>
          <a:prstGeom prst="rect">
            <a:avLst/>
          </a:prstGeom>
          <a:noFill/>
          <a:ln/>
        </p:spPr>
        <p:txBody>
          <a:bodyPr wrap="square" lIns="50800" tIns="50800" rIns="50800" bIns="50800" rtlCol="0" anchor="ctr"/>
          <a:lstStyle/>
          <a:p>
            <a:pPr algn="ctr" indent="0" marL="0">
              <a:buNone/>
            </a:pPr>
            <a:r>
              <a:rPr lang="en-US" sz="1000" b="1" dirty="0">
                <a:solidFill>
                  <a:schemeClr val="tx1"/>
                </a:solidFill>
              </a:rPr>
              <a:t>build-and-push</a:t>
            </a:r>
            <a:endParaRPr lang="en-US" sz="1000" dirty="0"/>
          </a:p>
          <a:p>
            <a:pPr algn="ctr" indent="0" marL="0">
              <a:buNone/>
            </a:pPr>
            <a:r>
              <a:rPr lang="en-US" sz="800" dirty="0">
                <a:solidFill>
                  <a:schemeClr val="tx2"/>
                </a:solidFill>
              </a:rPr>
              <a:t>buildx + QEMU, amd64/arm64, sha-&lt;7&gt; + latest</a:t>
            </a:r>
            <a:endParaRPr lang="en-US" sz="1000" dirty="0"/>
          </a:p>
        </p:txBody>
      </p:sp>
      <p:sp>
        <p:nvSpPr>
          <p:cNvPr id="23" name="arrow"/>
          <p:cNvSpPr/>
          <p:nvPr/>
        </p:nvSpPr>
        <p:spPr>
          <a:xfrm>
            <a:off x="5394960" y="2240280"/>
            <a:ext cx="365760" cy="914"/>
          </a:xfrm>
          <a:prstGeom prst="line">
            <a:avLst/>
          </a:prstGeom>
          <a:noFill/>
          <a:ln w="19050">
            <a:solidFill>
              <a:srgbClr val="4A5568"/>
            </a:solidFill>
            <a:prstDash val="solid"/>
            <a:tailEnd type="triangle"/>
          </a:ln>
        </p:spPr>
      </p:sp>
      <p:sp>
        <p:nvSpPr>
          <p:cNvPr id="24" name="box image-scan ×2"/>
          <p:cNvSpPr/>
          <p:nvPr/>
        </p:nvSpPr>
        <p:spPr>
          <a:xfrm>
            <a:off x="5760720" y="1920240"/>
            <a:ext cx="1280160" cy="640080"/>
          </a:xfrm>
          <a:prstGeom prst="roundRect">
            <a:avLst>
              <a:gd name="adj" fmla="val 8571"/>
            </a:avLst>
          </a:prstGeom>
          <a:solidFill>
            <a:schemeClr val="accent3"/>
          </a:solidFill>
          <a:ln w="12700">
            <a:solidFill>
              <a:schemeClr val="accent3"/>
            </a:solidFill>
            <a:prstDash val="solid"/>
          </a:ln>
        </p:spPr>
      </p:sp>
      <p:sp>
        <p:nvSpPr>
          <p:cNvPr id="25" name="box text image-scan ×2"/>
          <p:cNvSpPr txBox="1"/>
          <p:nvPr/>
        </p:nvSpPr>
        <p:spPr>
          <a:xfrm>
            <a:off x="5760720" y="1920240"/>
            <a:ext cx="1280160" cy="640080"/>
          </a:xfrm>
          <a:prstGeom prst="rect">
            <a:avLst/>
          </a:prstGeom>
          <a:noFill/>
          <a:ln/>
        </p:spPr>
        <p:txBody>
          <a:bodyPr wrap="square" lIns="50800" tIns="50800" rIns="50800" bIns="50800" rtlCol="0" anchor="ctr"/>
          <a:lstStyle/>
          <a:p>
            <a:pPr algn="ctr" indent="0" marL="0">
              <a:buNone/>
            </a:pPr>
            <a:r>
              <a:rPr lang="en-US" sz="1000" b="1" dirty="0">
                <a:solidFill>
                  <a:schemeClr val="bg1"/>
                </a:solidFill>
              </a:rPr>
              <a:t>image-scan ×2</a:t>
            </a:r>
            <a:endParaRPr lang="en-US" sz="1000" dirty="0"/>
          </a:p>
          <a:p>
            <a:pPr algn="ctr" indent="0" marL="0">
              <a:buNone/>
            </a:pPr>
            <a:r>
              <a:rPr lang="en-US" sz="800" dirty="0">
                <a:solidFill>
                  <a:schemeClr val="bg1"/>
                </a:solidFill>
              </a:rPr>
              <a:t>trivy, exit 1 on HIGH/CRIT</a:t>
            </a:r>
            <a:endParaRPr lang="en-US" sz="1000" dirty="0"/>
          </a:p>
        </p:txBody>
      </p:sp>
      <p:sp>
        <p:nvSpPr>
          <p:cNvPr id="26" name="arrow"/>
          <p:cNvSpPr/>
          <p:nvPr/>
        </p:nvSpPr>
        <p:spPr>
          <a:xfrm>
            <a:off x="7040880" y="2240280"/>
            <a:ext cx="365760" cy="914"/>
          </a:xfrm>
          <a:prstGeom prst="line">
            <a:avLst/>
          </a:prstGeom>
          <a:noFill/>
          <a:ln w="19050">
            <a:solidFill>
              <a:srgbClr val="4A5568"/>
            </a:solidFill>
            <a:prstDash val="solid"/>
            <a:tailEnd type="triangle"/>
          </a:ln>
        </p:spPr>
      </p:sp>
      <p:sp>
        <p:nvSpPr>
          <p:cNvPr id="27" name="box deploy"/>
          <p:cNvSpPr/>
          <p:nvPr/>
        </p:nvSpPr>
        <p:spPr>
          <a:xfrm>
            <a:off x="7406640" y="1920240"/>
            <a:ext cx="1280160" cy="640080"/>
          </a:xfrm>
          <a:prstGeom prst="roundRect">
            <a:avLst>
              <a:gd name="adj" fmla="val 8571"/>
            </a:avLst>
          </a:prstGeom>
          <a:solidFill>
            <a:schemeClr val="bg2"/>
          </a:solidFill>
          <a:ln w="12700">
            <a:solidFill>
              <a:schemeClr val="bg2"/>
            </a:solidFill>
            <a:prstDash val="solid"/>
          </a:ln>
        </p:spPr>
      </p:sp>
      <p:sp>
        <p:nvSpPr>
          <p:cNvPr id="28" name="box text deploy"/>
          <p:cNvSpPr txBox="1"/>
          <p:nvPr/>
        </p:nvSpPr>
        <p:spPr>
          <a:xfrm>
            <a:off x="7406640" y="1920240"/>
            <a:ext cx="1280160" cy="640080"/>
          </a:xfrm>
          <a:prstGeom prst="rect">
            <a:avLst/>
          </a:prstGeom>
          <a:noFill/>
          <a:ln/>
        </p:spPr>
        <p:txBody>
          <a:bodyPr wrap="square" lIns="50800" tIns="50800" rIns="50800" bIns="50800" rtlCol="0" anchor="ctr"/>
          <a:lstStyle/>
          <a:p>
            <a:pPr algn="ctr" indent="0" marL="0">
              <a:buNone/>
            </a:pPr>
            <a:r>
              <a:rPr lang="en-US" sz="1000" b="1" dirty="0">
                <a:solidFill>
                  <a:schemeClr val="tx1"/>
                </a:solidFill>
              </a:rPr>
              <a:t>deploy</a:t>
            </a:r>
            <a:endParaRPr lang="en-US" sz="1000" dirty="0"/>
          </a:p>
          <a:p>
            <a:pPr algn="ctr" indent="0" marL="0">
              <a:buNone/>
            </a:pPr>
            <a:r>
              <a:rPr lang="en-US" sz="800" dirty="0">
                <a:solidFill>
                  <a:schemeClr val="tx2"/>
                </a:solidFill>
              </a:rPr>
              <a:t>image.tag → values.yaml, commit [skip ci]</a:t>
            </a:r>
            <a:endParaRPr lang="en-US" sz="1000" dirty="0"/>
          </a:p>
        </p:txBody>
      </p:sp>
      <p:sp>
        <p:nvSpPr>
          <p:cNvPr id="29" name="pipeline notes"/>
          <p:cNvSpPr txBox="1"/>
          <p:nvPr/>
        </p:nvSpPr>
        <p:spPr>
          <a:xfrm>
            <a:off x="457200" y="3291840"/>
            <a:ext cx="8229600" cy="1325880"/>
          </a:xfrm>
          <a:prstGeom prst="rect">
            <a:avLst/>
          </a:prstGeom>
          <a:noFill/>
          <a:ln/>
        </p:spPr>
        <p:txBody>
          <a:bodyPr wrap="square" lIns="0" tIns="0" rIns="0" bIns="0" rtlCol="0" anchor="t"/>
          <a:lstStyle/>
          <a:p>
            <a:pPr indent="0" marL="0">
              <a:buNone/>
            </a:pPr>
            <a:r>
              <a:rPr lang="en-US" sz="1100" b="1" dirty="0">
                <a:solidFill>
                  <a:schemeClr val="tx2"/>
                </a:solidFill>
              </a:rPr>
              <a:t>Triggers: </a:t>
            </a:r>
            <a:pPr indent="0" marL="0">
              <a:spcAft>
                <a:spcPts val="600"/>
              </a:spcAft>
              <a:buNone/>
            </a:pPr>
            <a:r>
              <a:rPr lang="en-US" sz="1100" dirty="0">
                <a:solidFill>
                  <a:schemeClr val="tx2"/>
                </a:solidFill>
              </a:rPr>
              <a:t>push to the capstone / sessions branches, path-filtered to this folder, so classmates' pushes to the shared fork never run my pipeline. Never pull_request.</a:t>
            </a:r>
            <a:endParaRPr lang="en-US" sz="1100" dirty="0"/>
          </a:p>
          <a:p>
            <a:pPr indent="0" marL="0">
              <a:buNone/>
            </a:pPr>
            <a:r>
              <a:rPr lang="en-US" sz="1100" b="1" dirty="0">
                <a:solidFill>
                  <a:schemeClr val="tx2"/>
                </a:solidFill>
              </a:rPr>
              <a:t>Why multi-arch: </a:t>
            </a:r>
            <a:pPr indent="0" marL="0">
              <a:spcAft>
                <a:spcPts val="600"/>
              </a:spcAft>
              <a:buNone/>
            </a:pPr>
            <a:r>
              <a:rPr lang="en-US" sz="1100" dirty="0">
                <a:solidFill>
                  <a:schemeClr val="tx2"/>
                </a:solidFill>
              </a:rPr>
              <a:t>runners are amd64, my kind nodes are arm64 – the first amd64-only image would have died with exec format error.</a:t>
            </a:r>
            <a:endParaRPr lang="en-US" sz="1100" dirty="0"/>
          </a:p>
          <a:p>
            <a:pPr indent="0" marL="0">
              <a:buNone/>
            </a:pPr>
            <a:r>
              <a:rPr lang="en-US" sz="1100" b="1" dirty="0">
                <a:solidFill>
                  <a:schemeClr val="tx2"/>
                </a:solidFill>
              </a:rPr>
              <a:t>Run history: </a:t>
            </a:r>
            <a:pPr indent="0" marL="0">
              <a:buNone/>
            </a:pPr>
            <a:r>
              <a:rPr lang="en-US" sz="1100" dirty="0">
                <a:solidFill>
                  <a:schemeClr val="tx2"/>
                </a:solidFill>
              </a:rPr>
              <a:t>YAML parse error → blocked by SCA → trivy action unresolvable (swapped for docker run aquasec/trivy) → green run 37665794354 with sha-ada2a45 live.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M6  Gates only matter if they can say no</a:t>
            </a:r>
            <a:endParaRPr lang="en-US" sz="2600" dirty="0"/>
          </a:p>
        </p:txBody>
      </p:sp>
      <p:sp>
        <p:nvSpPr>
          <p:cNvPr id="3" name="stat known CVEs in starlette 0.50.0 – pip-audit blocked the run, nothing was built"/>
          <p:cNvSpPr txBox="1"/>
          <p:nvPr/>
        </p:nvSpPr>
        <p:spPr>
          <a:xfrm>
            <a:off x="457200" y="1097280"/>
            <a:ext cx="2560320" cy="731520"/>
          </a:xfrm>
          <a:prstGeom prst="rect">
            <a:avLst/>
          </a:prstGeom>
          <a:noFill/>
          <a:ln/>
        </p:spPr>
        <p:txBody>
          <a:bodyPr wrap="square" lIns="0" tIns="0" rIns="0" bIns="0" rtlCol="0" anchor="b"/>
          <a:lstStyle/>
          <a:p>
            <a:pPr algn="l" indent="0" marL="0">
              <a:buNone/>
            </a:pPr>
            <a:r>
              <a:rPr lang="en-US" sz="4000" b="1" dirty="0">
                <a:solidFill>
                  <a:schemeClr val="accent3"/>
                </a:solidFill>
              </a:rPr>
              <a:t>10</a:t>
            </a:r>
            <a:endParaRPr lang="en-US" sz="4000" dirty="0"/>
          </a:p>
        </p:txBody>
      </p:sp>
      <p:sp>
        <p:nvSpPr>
          <p:cNvPr id="4" name="stat label known CVEs in starlette 0.50.0 – pip-audit blocked the run, nothing was built"/>
          <p:cNvSpPr txBox="1"/>
          <p:nvPr/>
        </p:nvSpPr>
        <p:spPr>
          <a:xfrm>
            <a:off x="457200" y="1847088"/>
            <a:ext cx="2560320" cy="411480"/>
          </a:xfrm>
          <a:prstGeom prst="rect">
            <a:avLst/>
          </a:prstGeom>
          <a:noFill/>
          <a:ln/>
        </p:spPr>
        <p:txBody>
          <a:bodyPr wrap="square" lIns="0" tIns="0" rIns="0" bIns="0" rtlCol="0" anchor="t"/>
          <a:lstStyle/>
          <a:p>
            <a:pPr algn="l" indent="0" marL="0">
              <a:buNone/>
            </a:pPr>
            <a:r>
              <a:rPr lang="en-US" sz="1100" dirty="0">
                <a:solidFill>
                  <a:schemeClr val="tx2"/>
                </a:solidFill>
              </a:rPr>
              <a:t>known CVEs in starlette 0.50.0 – pip-audit blocked the run, nothing was built</a:t>
            </a:r>
            <a:endParaRPr lang="en-US" sz="1100" dirty="0"/>
          </a:p>
        </p:txBody>
      </p:sp>
      <p:sp>
        <p:nvSpPr>
          <p:cNvPr id="5" name="stat trivy findings on the first frontend image (alpine 3.21) → base image bump"/>
          <p:cNvSpPr txBox="1"/>
          <p:nvPr/>
        </p:nvSpPr>
        <p:spPr>
          <a:xfrm>
            <a:off x="3291840" y="1097280"/>
            <a:ext cx="2560320" cy="731520"/>
          </a:xfrm>
          <a:prstGeom prst="rect">
            <a:avLst/>
          </a:prstGeom>
          <a:noFill/>
          <a:ln/>
        </p:spPr>
        <p:txBody>
          <a:bodyPr wrap="square" lIns="0" tIns="0" rIns="0" bIns="0" rtlCol="0" anchor="b"/>
          <a:lstStyle/>
          <a:p>
            <a:pPr algn="l" indent="0" marL="0">
              <a:buNone/>
            </a:pPr>
            <a:r>
              <a:rPr lang="en-US" sz="4000" b="1" dirty="0">
                <a:solidFill>
                  <a:schemeClr val="accent3"/>
                </a:solidFill>
              </a:rPr>
              <a:t>42 → 0</a:t>
            </a:r>
            <a:endParaRPr lang="en-US" sz="4000" dirty="0"/>
          </a:p>
        </p:txBody>
      </p:sp>
      <p:sp>
        <p:nvSpPr>
          <p:cNvPr id="6" name="stat label trivy findings on the first frontend image (alpine 3.21) → base image bump"/>
          <p:cNvSpPr txBox="1"/>
          <p:nvPr/>
        </p:nvSpPr>
        <p:spPr>
          <a:xfrm>
            <a:off x="3291840" y="1847088"/>
            <a:ext cx="2560320" cy="411480"/>
          </a:xfrm>
          <a:prstGeom prst="rect">
            <a:avLst/>
          </a:prstGeom>
          <a:noFill/>
          <a:ln/>
        </p:spPr>
        <p:txBody>
          <a:bodyPr wrap="square" lIns="0" tIns="0" rIns="0" bIns="0" rtlCol="0" anchor="t"/>
          <a:lstStyle/>
          <a:p>
            <a:pPr algn="l" indent="0" marL="0">
              <a:buNone/>
            </a:pPr>
            <a:r>
              <a:rPr lang="en-US" sz="1100" dirty="0">
                <a:solidFill>
                  <a:schemeClr val="tx2"/>
                </a:solidFill>
              </a:rPr>
              <a:t>trivy findings on the first frontend image (alpine 3.21) → base image bump</a:t>
            </a:r>
            <a:endParaRPr lang="en-US" sz="1100" dirty="0"/>
          </a:p>
        </p:txBody>
      </p:sp>
      <p:sp>
        <p:nvSpPr>
          <p:cNvPr id="7" name="stat HIGH/CRITICAL left on both final images (debian 13.7 · alpine 3.24.2)"/>
          <p:cNvSpPr txBox="1"/>
          <p:nvPr/>
        </p:nvSpPr>
        <p:spPr>
          <a:xfrm>
            <a:off x="6126480" y="1097280"/>
            <a:ext cx="2560320" cy="731520"/>
          </a:xfrm>
          <a:prstGeom prst="rect">
            <a:avLst/>
          </a:prstGeom>
          <a:noFill/>
          <a:ln/>
        </p:spPr>
        <p:txBody>
          <a:bodyPr wrap="square" lIns="0" tIns="0" rIns="0" bIns="0" rtlCol="0" anchor="b"/>
          <a:lstStyle/>
          <a:p>
            <a:pPr algn="l" indent="0" marL="0">
              <a:buNone/>
            </a:pPr>
            <a:r>
              <a:rPr lang="en-US" sz="4000" b="1" dirty="0">
                <a:solidFill>
                  <a:schemeClr val="accent2"/>
                </a:solidFill>
              </a:rPr>
              <a:t>0</a:t>
            </a:r>
            <a:endParaRPr lang="en-US" sz="4000" dirty="0"/>
          </a:p>
        </p:txBody>
      </p:sp>
      <p:sp>
        <p:nvSpPr>
          <p:cNvPr id="8" name="stat label HIGH/CRITICAL left on both final images (debian 13.7 · alpine 3.24.2)"/>
          <p:cNvSpPr txBox="1"/>
          <p:nvPr/>
        </p:nvSpPr>
        <p:spPr>
          <a:xfrm>
            <a:off x="6126480" y="1847088"/>
            <a:ext cx="2560320" cy="411480"/>
          </a:xfrm>
          <a:prstGeom prst="rect">
            <a:avLst/>
          </a:prstGeom>
          <a:noFill/>
          <a:ln/>
        </p:spPr>
        <p:txBody>
          <a:bodyPr wrap="square" lIns="0" tIns="0" rIns="0" bIns="0" rtlCol="0" anchor="t"/>
          <a:lstStyle/>
          <a:p>
            <a:pPr algn="l" indent="0" marL="0">
              <a:buNone/>
            </a:pPr>
            <a:r>
              <a:rPr lang="en-US" sz="1100" dirty="0">
                <a:solidFill>
                  <a:schemeClr val="tx2"/>
                </a:solidFill>
              </a:rPr>
              <a:t>HIGH/CRITICAL left on both final images (debian 13.7 · alpine 3.24.2)</a:t>
            </a:r>
            <a:endParaRPr lang="en-US" sz="1100" dirty="0"/>
          </a:p>
        </p:txBody>
      </p:sp>
      <p:sp>
        <p:nvSpPr>
          <p:cNvPr id="9" name="card What runs, and where"/>
          <p:cNvSpPr/>
          <p:nvPr/>
        </p:nvSpPr>
        <p:spPr>
          <a:xfrm>
            <a:off x="457200" y="2606040"/>
            <a:ext cx="4023360" cy="1920240"/>
          </a:xfrm>
          <a:prstGeom prst="roundRect">
            <a:avLst>
              <a:gd name="adj" fmla="val 3810"/>
            </a:avLst>
          </a:prstGeom>
          <a:solidFill>
            <a:schemeClr val="bg2"/>
          </a:solidFill>
          <a:ln w="12700">
            <a:solidFill>
              <a:schemeClr val="bg2"/>
            </a:solidFill>
            <a:prstDash val="solid"/>
          </a:ln>
        </p:spPr>
      </p:sp>
      <p:sp>
        <p:nvSpPr>
          <p:cNvPr id="10" name="card title What runs, and where"/>
          <p:cNvSpPr txBox="1"/>
          <p:nvPr/>
        </p:nvSpPr>
        <p:spPr>
          <a:xfrm>
            <a:off x="621792" y="2734056"/>
            <a:ext cx="3694176" cy="329184"/>
          </a:xfrm>
          <a:prstGeom prst="rect">
            <a:avLst/>
          </a:prstGeom>
          <a:noFill/>
          <a:ln/>
        </p:spPr>
        <p:txBody>
          <a:bodyPr wrap="square" lIns="0" tIns="0" rIns="0" bIns="0" rtlCol="0" anchor="ctr"/>
          <a:lstStyle/>
          <a:p>
            <a:pPr indent="0" marL="0">
              <a:buNone/>
            </a:pPr>
            <a:r>
              <a:rPr lang="en-US" sz="1400" b="1" dirty="0">
                <a:solidFill>
                  <a:schemeClr val="tx1"/>
                </a:solidFill>
              </a:rPr>
              <a:t>What runs, and where</a:t>
            </a:r>
            <a:endParaRPr lang="en-US" sz="1400" dirty="0"/>
          </a:p>
        </p:txBody>
      </p:sp>
      <p:sp>
        <p:nvSpPr>
          <p:cNvPr id="11" name="card body What runs, and where"/>
          <p:cNvSpPr txBox="1"/>
          <p:nvPr/>
        </p:nvSpPr>
        <p:spPr>
          <a:xfrm>
            <a:off x="621792" y="3118104"/>
            <a:ext cx="3694176" cy="13167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chemeClr val="tx2"/>
                </a:solidFill>
              </a:rPr>
              <a:t>SAST – bandit -ll, semgrep p/python + p/security-audit on backend/app</a:t>
            </a:r>
            <a:endParaRPr lang="en-US" sz="1100" dirty="0"/>
          </a:p>
          <a:p>
            <a:pPr marL="127000" indent="-127000">
              <a:spcAft>
                <a:spcPts val="300"/>
              </a:spcAft>
              <a:buSzPct val="100000"/>
              <a:buChar char="•"/>
            </a:pPr>
            <a:r>
              <a:rPr lang="en-US" sz="1100" dirty="0">
                <a:solidFill>
                  <a:schemeClr val="tx2"/>
                </a:solidFill>
              </a:rPr>
              <a:t>SCA – pip-audit --strict, npm audit --omit=dev --audit-level=high</a:t>
            </a:r>
            <a:endParaRPr lang="en-US" sz="1100" dirty="0"/>
          </a:p>
          <a:p>
            <a:pPr marL="127000" indent="-127000">
              <a:spcAft>
                <a:spcPts val="300"/>
              </a:spcAft>
              <a:buSzPct val="100000"/>
              <a:buChar char="•"/>
            </a:pPr>
            <a:r>
              <a:rPr lang="en-US" sz="1100" dirty="0">
                <a:solidFill>
                  <a:schemeClr val="tx2"/>
                </a:solidFill>
              </a:rPr>
              <a:t>Secrets – gitleaks over history and tree, .gitleaks.toml allow-lists lab placeholders</a:t>
            </a:r>
            <a:endParaRPr lang="en-US" sz="1100" dirty="0"/>
          </a:p>
          <a:p>
            <a:pPr marL="127000" indent="-127000">
              <a:spcAft>
                <a:spcPts val="300"/>
              </a:spcAft>
              <a:buSzPct val="100000"/>
              <a:buChar char="•"/>
            </a:pPr>
            <a:r>
              <a:rPr lang="en-US" sz="1100" dirty="0">
                <a:solidFill>
                  <a:schemeClr val="tx2"/>
                </a:solidFill>
              </a:rPr>
              <a:t>Images – trivy twice: full report that never fails, then the gate with --ignore-unfixed</a:t>
            </a:r>
            <a:endParaRPr lang="en-US" sz="1100" dirty="0"/>
          </a:p>
        </p:txBody>
      </p:sp>
      <p:sp>
        <p:nvSpPr>
          <p:cNvPr id="12" name="card The fix was never an ignore"/>
          <p:cNvSpPr/>
          <p:nvPr/>
        </p:nvSpPr>
        <p:spPr>
          <a:xfrm>
            <a:off x="4663440" y="2606040"/>
            <a:ext cx="4023360" cy="1920240"/>
          </a:xfrm>
          <a:prstGeom prst="roundRect">
            <a:avLst>
              <a:gd name="adj" fmla="val 3810"/>
            </a:avLst>
          </a:prstGeom>
          <a:solidFill>
            <a:schemeClr val="bg2"/>
          </a:solidFill>
          <a:ln w="12700">
            <a:solidFill>
              <a:schemeClr val="bg2"/>
            </a:solidFill>
            <a:prstDash val="solid"/>
          </a:ln>
        </p:spPr>
      </p:sp>
      <p:sp>
        <p:nvSpPr>
          <p:cNvPr id="13" name="card title The fix was never an ignore"/>
          <p:cNvSpPr txBox="1"/>
          <p:nvPr/>
        </p:nvSpPr>
        <p:spPr>
          <a:xfrm>
            <a:off x="4828032" y="2734056"/>
            <a:ext cx="3694176" cy="329184"/>
          </a:xfrm>
          <a:prstGeom prst="rect">
            <a:avLst/>
          </a:prstGeom>
          <a:noFill/>
          <a:ln/>
        </p:spPr>
        <p:txBody>
          <a:bodyPr wrap="square" lIns="0" tIns="0" rIns="0" bIns="0" rtlCol="0" anchor="ctr"/>
          <a:lstStyle/>
          <a:p>
            <a:pPr indent="0" marL="0">
              <a:buNone/>
            </a:pPr>
            <a:r>
              <a:rPr lang="en-US" sz="1400" b="1" dirty="0">
                <a:solidFill>
                  <a:schemeClr val="tx1"/>
                </a:solidFill>
              </a:rPr>
              <a:t>The fix was never an ignore</a:t>
            </a:r>
            <a:endParaRPr lang="en-US" sz="1400" dirty="0"/>
          </a:p>
        </p:txBody>
      </p:sp>
      <p:sp>
        <p:nvSpPr>
          <p:cNvPr id="14" name="card body The fix was never an ignore"/>
          <p:cNvSpPr txBox="1"/>
          <p:nvPr/>
        </p:nvSpPr>
        <p:spPr>
          <a:xfrm>
            <a:off x="4828032" y="3118104"/>
            <a:ext cx="3694176" cy="131673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chemeClr val="tx2"/>
                </a:solidFill>
              </a:rPr>
              <a:t>SCA block → upgrade FastAPI/Starlette to the patched release and drop a library, not add an exception</a:t>
            </a:r>
            <a:endParaRPr lang="en-US" sz="1100" dirty="0"/>
          </a:p>
          <a:p>
            <a:pPr marL="127000" indent="-127000">
              <a:spcAft>
                <a:spcPts val="300"/>
              </a:spcAft>
              <a:buSzPct val="100000"/>
              <a:buChar char="•"/>
            </a:pPr>
            <a:r>
              <a:rPr lang="en-US" sz="1100" dirty="0">
                <a:solidFill>
                  <a:schemeClr val="tx2"/>
                </a:solidFill>
              </a:rPr>
              <a:t>Trivy block → bump the nginx base image; the Debian python image was already clean</a:t>
            </a:r>
            <a:endParaRPr lang="en-US" sz="1100" dirty="0"/>
          </a:p>
          <a:p>
            <a:pPr marL="127000" indent="-127000">
              <a:spcAft>
                <a:spcPts val="300"/>
              </a:spcAft>
              <a:buSzPct val="100000"/>
              <a:buChar char="•"/>
            </a:pPr>
            <a:r>
              <a:rPr lang="en-US" sz="1100" dirty="0">
                <a:solidFill>
                  <a:schemeClr val="tx2"/>
                </a:solidFill>
              </a:rPr>
              <a:t>--ignore-unfixed because a CVE with no patched package yet can only be documented, not fixed</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M7  Terraform: 12 resources applied and destroyed</a:t>
            </a:r>
            <a:endParaRPr lang="en-US" sz="2600" dirty="0"/>
          </a:p>
        </p:txBody>
      </p:sp>
      <p:graphicFrame>
        <p:nvGraphicFramePr>
          <p:cNvPr id="9" name="tf table"/>
          <p:cNvGraphicFramePr>
            <a:graphicFrameLocks noGrp="1"/>
          </p:cNvGraphicFramePr>
          <p:nvPr>
            <p:extLst>
              <p:ext uri="{D42A27DB-BD31-4B8C-83A1-F6EECF244321}">
                <p14:modId xmlns:p14="http://schemas.microsoft.com/office/powerpoint/2010/main" val="1579011935"/>
              </p:ext>
            </p:extLst>
          </p:nvPr>
        </p:nvGraphicFramePr>
        <p:xfrm>
          <a:off x="457200" y="1097280"/>
          <a:ext cx="4937760" cy="914400"/>
        </p:xfrm>
        <a:graphic>
          <a:graphicData uri="http://schemas.openxmlformats.org/drawingml/2006/table">
            <a:tbl>
              <a:tblPr/>
              <a:tblGrid>
                <a:gridCol w="2103120"/>
                <a:gridCol w="2834640"/>
              </a:tblGrid>
              <a:tr h="365760">
                <a:tc>
                  <a:txBody>
                    <a:bodyPr/>
                    <a:lstStyle/>
                    <a:p>
                      <a:pPr indent="0" marL="0">
                        <a:buNone/>
                      </a:pPr>
                      <a:r>
                        <a:rPr lang="en-US" sz="900" dirty="0">
                          <a:solidFill>
                            <a:srgbClr val="0E1726"/>
                          </a:solidFill>
                          <a:latin typeface="Courier New" pitchFamily="34" charset="0"/>
                          <a:ea typeface="Courier New" pitchFamily="34" charset="-122"/>
                          <a:cs typeface="Courier New" pitchFamily="34" charset="-120"/>
                        </a:rPr>
                        <a:t>aws_vpc.main</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000" dirty="0">
                          <a:solidFill>
                            <a:srgbClr val="4A5568"/>
                          </a:solidFill>
                        </a:rPr>
                        <a:t>10.42.0.0/16, DNS support + hostnames</a:t>
                      </a:r>
                      <a:endParaRPr lang="en-US" sz="1000" dirty="0"/>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r>
              <a:tr h="365760">
                <a:tc>
                  <a:txBody>
                    <a:bodyPr/>
                    <a:lstStyle/>
                    <a:p>
                      <a:pPr indent="0" marL="0">
                        <a:buNone/>
                      </a:pPr>
                      <a:r>
                        <a:rPr lang="en-US" sz="900" dirty="0">
                          <a:solidFill>
                            <a:srgbClr val="0E1726"/>
                          </a:solidFill>
                          <a:latin typeface="Courier New" pitchFamily="34" charset="0"/>
                          <a:ea typeface="Courier New" pitchFamily="34" charset="-122"/>
                          <a:cs typeface="Courier New" pitchFamily="34" charset="-120"/>
                        </a:rPr>
                        <a:t>aws_subnet.public[0..1]</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000" dirty="0">
                          <a:solidFill>
                            <a:srgbClr val="4A5568"/>
                          </a:solidFill>
                        </a:rPr>
                        <a:t>10.42.1.0/24 (a), 10.42.2.0/24 (b), EKS/ELB tags</a:t>
                      </a:r>
                      <a:endParaRPr lang="en-US" sz="1000" dirty="0"/>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r>
              <a:tr h="365760">
                <a:tc>
                  <a:txBody>
                    <a:bodyPr/>
                    <a:lstStyle/>
                    <a:p>
                      <a:pPr indent="0" marL="0">
                        <a:buNone/>
                      </a:pPr>
                      <a:r>
                        <a:rPr lang="en-US" sz="900" dirty="0">
                          <a:solidFill>
                            <a:srgbClr val="0E1726"/>
                          </a:solidFill>
                          <a:latin typeface="Courier New" pitchFamily="34" charset="0"/>
                          <a:ea typeface="Courier New" pitchFamily="34" charset="-122"/>
                          <a:cs typeface="Courier New" pitchFamily="34" charset="-120"/>
                        </a:rPr>
                        <a:t>aws_internet_gateway.main</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000" dirty="0">
                          <a:solidFill>
                            <a:srgbClr val="4A5568"/>
                          </a:solidFill>
                        </a:rPr>
                        <a:t>+ route table: 0.0.0.0/0 → igw, 2 associations</a:t>
                      </a:r>
                      <a:endParaRPr lang="en-US" sz="1000" dirty="0"/>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r>
              <a:tr h="365760">
                <a:tc>
                  <a:txBody>
                    <a:bodyPr/>
                    <a:lstStyle/>
                    <a:p>
                      <a:pPr indent="0" marL="0">
                        <a:buNone/>
                      </a:pPr>
                      <a:r>
                        <a:rPr lang="en-US" sz="900" dirty="0">
                          <a:solidFill>
                            <a:srgbClr val="0E1726"/>
                          </a:solidFill>
                          <a:latin typeface="Courier New" pitchFamily="34" charset="0"/>
                          <a:ea typeface="Courier New" pitchFamily="34" charset="-122"/>
                          <a:cs typeface="Courier New" pitchFamily="34" charset="-120"/>
                        </a:rPr>
                        <a:t>aws_security_group.web</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000" dirty="0">
                          <a:solidFill>
                            <a:srgbClr val="4A5568"/>
                          </a:solidFill>
                        </a:rPr>
                        <a:t>80/443 in, all out</a:t>
                      </a:r>
                      <a:endParaRPr lang="en-US" sz="1000" dirty="0"/>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r>
              <a:tr h="365760">
                <a:tc>
                  <a:txBody>
                    <a:bodyPr/>
                    <a:lstStyle/>
                    <a:p>
                      <a:pPr indent="0" marL="0">
                        <a:buNone/>
                      </a:pPr>
                      <a:r>
                        <a:rPr lang="en-US" sz="900" dirty="0">
                          <a:solidFill>
                            <a:srgbClr val="0E1726"/>
                          </a:solidFill>
                          <a:latin typeface="Courier New" pitchFamily="34" charset="0"/>
                          <a:ea typeface="Courier New" pitchFamily="34" charset="-122"/>
                          <a:cs typeface="Courier New" pitchFamily="34" charset="-120"/>
                        </a:rPr>
                        <a:t>aws_s3_bucket.backups</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000" dirty="0">
                          <a:solidFill>
                            <a:srgbClr val="4A5568"/>
                          </a:solidFill>
                        </a:rPr>
                        <a:t>versioning on, public access blocked, force_destroy</a:t>
                      </a:r>
                      <a:endParaRPr lang="en-US" sz="1000" dirty="0"/>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r>
              <a:tr h="365760">
                <a:tc>
                  <a:txBody>
                    <a:bodyPr/>
                    <a:lstStyle/>
                    <a:p>
                      <a:pPr indent="0" marL="0">
                        <a:buNone/>
                      </a:pPr>
                      <a:r>
                        <a:rPr lang="en-US" sz="900" dirty="0">
                          <a:solidFill>
                            <a:srgbClr val="0E1726"/>
                          </a:solidFill>
                          <a:latin typeface="Courier New" pitchFamily="34" charset="0"/>
                          <a:ea typeface="Courier New" pitchFamily="34" charset="-122"/>
                          <a:cs typeface="Courier New" pitchFamily="34" charset="-120"/>
                        </a:rPr>
                        <a:t>module.eks  (create_eks ? 1 : 0)</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c>
                  <a:txBody>
                    <a:bodyPr/>
                    <a:lstStyle/>
                    <a:p>
                      <a:pPr indent="0" marL="0">
                        <a:buNone/>
                      </a:pPr>
                      <a:r>
                        <a:rPr lang="en-US" sz="1000" dirty="0">
                          <a:solidFill>
                            <a:srgbClr val="4A5568"/>
                          </a:solidFill>
                        </a:rPr>
                        <a:t>IAM roles, aws_eks_cluster, aws_eks_node_group</a:t>
                      </a:r>
                      <a:endParaRPr lang="en-US" sz="1000" dirty="0"/>
                    </a:p>
                  </a:txBody>
                  <a:tcPr marL="76200" marR="76200" marT="25400" marB="25400" anchor="ctr">
                    <a:lnL w="0" cap="flat" cmpd="sng" algn="ctr">
                      <a:noFill/>
                    </a:lnL>
                    <a:lnR w="0" cap="flat" cmpd="sng" algn="ctr">
                      <a:noFill/>
                    </a:lnR>
                    <a:lnT w="0" cap="flat" cmpd="sng" algn="ctr">
                      <a:noFill/>
                    </a:lnT>
                    <a:lnB w="0" cap="flat" cmpd="sng" algn="ctr">
                      <a:noFill/>
                    </a:lnB>
                    <a:solidFill>
                      <a:srgbClr val="F1F4F8"/>
                    </a:solidFill>
                  </a:tcPr>
                </a:tc>
              </a:tr>
            </a:tbl>
          </a:graphicData>
        </a:graphic>
      </p:graphicFrame>
      <p:sp>
        <p:nvSpPr>
          <p:cNvPr id="4" name="card Where it ran, honestly"/>
          <p:cNvSpPr/>
          <p:nvPr/>
        </p:nvSpPr>
        <p:spPr>
          <a:xfrm>
            <a:off x="5577840" y="1097280"/>
            <a:ext cx="3108960" cy="2103120"/>
          </a:xfrm>
          <a:prstGeom prst="roundRect">
            <a:avLst>
              <a:gd name="adj" fmla="val 3478"/>
            </a:avLst>
          </a:prstGeom>
          <a:solidFill>
            <a:schemeClr val="bg2"/>
          </a:solidFill>
          <a:ln w="12700">
            <a:solidFill>
              <a:schemeClr val="bg2"/>
            </a:solidFill>
            <a:prstDash val="solid"/>
          </a:ln>
        </p:spPr>
      </p:sp>
      <p:sp>
        <p:nvSpPr>
          <p:cNvPr id="5" name="card title Where it ran, honestly"/>
          <p:cNvSpPr txBox="1"/>
          <p:nvPr/>
        </p:nvSpPr>
        <p:spPr>
          <a:xfrm>
            <a:off x="5742432" y="1225296"/>
            <a:ext cx="2779776" cy="329184"/>
          </a:xfrm>
          <a:prstGeom prst="rect">
            <a:avLst/>
          </a:prstGeom>
          <a:noFill/>
          <a:ln/>
        </p:spPr>
        <p:txBody>
          <a:bodyPr wrap="square" lIns="0" tIns="0" rIns="0" bIns="0" rtlCol="0" anchor="ctr"/>
          <a:lstStyle/>
          <a:p>
            <a:pPr indent="0" marL="0">
              <a:buNone/>
            </a:pPr>
            <a:r>
              <a:rPr lang="en-US" sz="1400" b="1" dirty="0">
                <a:solidFill>
                  <a:schemeClr val="tx1"/>
                </a:solidFill>
              </a:rPr>
              <a:t>Where it ran, honestly</a:t>
            </a:r>
            <a:endParaRPr lang="en-US" sz="1400" dirty="0"/>
          </a:p>
        </p:txBody>
      </p:sp>
      <p:sp>
        <p:nvSpPr>
          <p:cNvPr id="6" name="card body Where it ran, honestly"/>
          <p:cNvSpPr txBox="1"/>
          <p:nvPr/>
        </p:nvSpPr>
        <p:spPr>
          <a:xfrm>
            <a:off x="5742432" y="1609344"/>
            <a:ext cx="2779776" cy="1499616"/>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chemeClr val="tx2"/>
                </a:solidFill>
              </a:rPr>
              <a:t>The AWS key on this laptop is invalid (InvalidClientTokenId) and I did not want a paid account for an assignment</a:t>
            </a:r>
            <a:endParaRPr lang="en-US" sz="1050" dirty="0"/>
          </a:p>
          <a:p>
            <a:pPr marL="127000" indent="-127000">
              <a:spcAft>
                <a:spcPts val="300"/>
              </a:spcAft>
              <a:buSzPct val="100000"/>
              <a:buChar char="•"/>
            </a:pPr>
            <a:r>
              <a:rPr lang="en-US" sz="1050" dirty="0">
                <a:solidFill>
                  <a:schemeClr val="tx2"/>
                </a:solidFill>
              </a:rPr>
              <a:t>Same code, one variable flipped → LocalStack 4.0.3 on localhost:4566</a:t>
            </a:r>
            <a:endParaRPr lang="en-US" sz="1050" dirty="0"/>
          </a:p>
          <a:p>
            <a:pPr marL="127000" indent="-127000">
              <a:spcAft>
                <a:spcPts val="300"/>
              </a:spcAft>
              <a:buSzPct val="100000"/>
              <a:buChar char="•"/>
            </a:pPr>
            <a:r>
              <a:rPr lang="en-US" sz="1050" dirty="0">
                <a:solidFill>
                  <a:schemeClr val="tx2"/>
                </a:solidFill>
              </a:rPr>
              <a:t>init · fmt -check · validate · plan (12 to add) · apply · output · aws ec2/s3 verify · destroy (12 destroyed) · state list empty</a:t>
            </a:r>
            <a:endParaRPr lang="en-US" sz="1050" dirty="0"/>
          </a:p>
        </p:txBody>
      </p:sp>
      <p:sp>
        <p:nvSpPr>
          <p:cNvPr id="7" name="card EKS: planned, not applied"/>
          <p:cNvSpPr/>
          <p:nvPr/>
        </p:nvSpPr>
        <p:spPr>
          <a:xfrm>
            <a:off x="5577840" y="3337560"/>
            <a:ext cx="3108960" cy="1188720"/>
          </a:xfrm>
          <a:prstGeom prst="roundRect">
            <a:avLst>
              <a:gd name="adj" fmla="val 6154"/>
            </a:avLst>
          </a:prstGeom>
          <a:solidFill>
            <a:schemeClr val="bg2"/>
          </a:solidFill>
          <a:ln w="12700">
            <a:solidFill>
              <a:schemeClr val="bg2"/>
            </a:solidFill>
            <a:prstDash val="solid"/>
          </a:ln>
        </p:spPr>
      </p:sp>
      <p:sp>
        <p:nvSpPr>
          <p:cNvPr id="8" name="card title EKS: planned, not applied"/>
          <p:cNvSpPr txBox="1"/>
          <p:nvPr/>
        </p:nvSpPr>
        <p:spPr>
          <a:xfrm>
            <a:off x="5742432" y="3465576"/>
            <a:ext cx="2779776" cy="329184"/>
          </a:xfrm>
          <a:prstGeom prst="rect">
            <a:avLst/>
          </a:prstGeom>
          <a:noFill/>
          <a:ln/>
        </p:spPr>
        <p:txBody>
          <a:bodyPr wrap="square" lIns="0" tIns="0" rIns="0" bIns="0" rtlCol="0" anchor="ctr"/>
          <a:lstStyle/>
          <a:p>
            <a:pPr indent="0" marL="0">
              <a:buNone/>
            </a:pPr>
            <a:r>
              <a:rPr lang="en-US" sz="1400" b="1" dirty="0">
                <a:solidFill>
                  <a:schemeClr val="tx1"/>
                </a:solidFill>
              </a:rPr>
              <a:t>EKS: planned, not applied</a:t>
            </a:r>
            <a:endParaRPr lang="en-US" sz="1400" dirty="0"/>
          </a:p>
        </p:txBody>
      </p:sp>
      <p:sp>
        <p:nvSpPr>
          <p:cNvPr id="9" name="card body EKS: planned, not applied"/>
          <p:cNvSpPr txBox="1"/>
          <p:nvPr/>
        </p:nvSpPr>
        <p:spPr>
          <a:xfrm>
            <a:off x="5742432" y="3849624"/>
            <a:ext cx="2779776" cy="585216"/>
          </a:xfrm>
          <a:prstGeom prst="rect">
            <a:avLst/>
          </a:prstGeom>
          <a:noFill/>
          <a:ln/>
        </p:spPr>
        <p:txBody>
          <a:bodyPr wrap="square" lIns="0" tIns="0" rIns="0" bIns="0" rtlCol="0" anchor="t"/>
          <a:lstStyle/>
          <a:p>
            <a:pPr indent="0" marL="0">
              <a:spcAft>
                <a:spcPts val="300"/>
              </a:spcAft>
              <a:buNone/>
            </a:pPr>
            <a:r>
              <a:rPr lang="en-US" sz="1050" dirty="0">
                <a:solidFill>
                  <a:schemeClr val="tx2"/>
                </a:solidFill>
              </a:rPr>
              <a:t>LocalStack free has no EKS API; a real control plane costs money the moment it exists – so create_eks defaults to false</a:t>
            </a:r>
            <a:endParaRPr lang="en-US" sz="1050" dirty="0"/>
          </a:p>
        </p:txBody>
      </p:sp>
      <p:sp>
        <p:nvSpPr>
          <p:cNvPr id="10" name="tf output"/>
          <p:cNvSpPr txBox="1"/>
          <p:nvPr/>
        </p:nvSpPr>
        <p:spPr>
          <a:xfrm>
            <a:off x="457200" y="3657600"/>
            <a:ext cx="4937760" cy="457200"/>
          </a:xfrm>
          <a:prstGeom prst="rect">
            <a:avLst/>
          </a:prstGeom>
          <a:noFill/>
          <a:ln/>
        </p:spPr>
        <p:txBody>
          <a:bodyPr wrap="square" lIns="0" tIns="0" rIns="0" bIns="0" rtlCol="0" anchor="ctr"/>
          <a:lstStyle/>
          <a:p>
            <a:pPr indent="0" marL="0">
              <a:buNone/>
            </a:pPr>
            <a:r>
              <a:rPr lang="en-US" sz="950" dirty="0">
                <a:solidFill>
                  <a:schemeClr val="tx2"/>
                </a:solidFill>
                <a:latin typeface="Courier New" pitchFamily="34" charset="0"/>
                <a:ea typeface="Courier New" pitchFamily="34" charset="-122"/>
                <a:cs typeface="Courier New" pitchFamily="34" charset="-120"/>
              </a:rPr>
              <a:t>terraform output → vpc_id = vpc-98e2ca57 · public_subnet_ids = [subnet-0fe094cb, subnet-291d6d0a] · backup_bucket = studytrack-24bcs10123-backups-dev</a:t>
            </a:r>
            <a:endParaRPr lang="en-US" sz="950" dirty="0"/>
          </a:p>
        </p:txBody>
      </p:sp>
      <p:sp>
        <p:nvSpPr>
          <p:cNvPr id="11" name="tf quote"/>
          <p:cNvSpPr txBox="1"/>
          <p:nvPr/>
        </p:nvSpPr>
        <p:spPr>
          <a:xfrm>
            <a:off x="457200" y="4206240"/>
            <a:ext cx="4937760" cy="365760"/>
          </a:xfrm>
          <a:prstGeom prst="rect">
            <a:avLst/>
          </a:prstGeom>
          <a:noFill/>
          <a:ln/>
        </p:spPr>
        <p:txBody>
          <a:bodyPr wrap="square" lIns="0" tIns="0" rIns="0" bIns="0" rtlCol="0" anchor="ctr"/>
          <a:lstStyle/>
          <a:p>
            <a:pPr indent="0" marL="0">
              <a:buNone/>
            </a:pPr>
            <a:r>
              <a:rPr lang="en-US" sz="1100" i="1" dirty="0">
                <a:solidFill>
                  <a:schemeClr val="tx1"/>
                </a:solidFill>
              </a:rPr>
              <a:t>Saying "planned, not applied" is better than a screenshot I do not have.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M8  Kubernetes + Helm: 5 pods, Ingress, HPA 2 → 6</a:t>
            </a:r>
            <a:endParaRPr lang="en-US" sz="2600" dirty="0"/>
          </a:p>
        </p:txBody>
      </p:sp>
      <p:sp>
        <p:nvSpPr>
          <p:cNvPr id="3" name="frame 10-ingress-studytrack-local.png"/>
          <p:cNvSpPr/>
          <p:nvPr/>
        </p:nvSpPr>
        <p:spPr>
          <a:xfrm>
            <a:off x="402336" y="1042416"/>
            <a:ext cx="3675888" cy="2395728"/>
          </a:xfrm>
          <a:prstGeom prst="roundRect">
            <a:avLst>
              <a:gd name="adj" fmla="val 3053"/>
            </a:avLst>
          </a:prstGeom>
          <a:solidFill>
            <a:srgbClr val="0E1726"/>
          </a:solidFill>
          <a:ln w="12700">
            <a:solidFill>
              <a:srgbClr val="0E1726"/>
            </a:solidFill>
            <a:prstDash val="solid"/>
          </a:ln>
          <a:effectLst>
            <a:outerShdw sx="100000" sy="100000" kx="0" ky="0" algn="bl" rotWithShape="0" blurRad="76200" dist="25400" dir="5400000">
              <a:srgbClr val="000000">
                <a:alpha val="25000"/>
              </a:srgbClr>
            </a:outerShdw>
          </a:effectLst>
        </p:spPr>
      </p:sp>
      <p:pic>
        <p:nvPicPr>
          <p:cNvPr id="4" name="screenshot 10-ingress-studytrack-local.png" descr="/Users/kushalscaler/devops-heros/session21-python/kushal-24bcs10123/screenshots/10-ingress-studytrack-local.png">    </p:cNvPr>
          <p:cNvPicPr>
            <a:picLocks noChangeAspect="1"/>
          </p:cNvPicPr>
          <p:nvPr/>
        </p:nvPicPr>
        <p:blipFill>
          <a:blip r:embed="rId1"/>
          <a:stretch>
            <a:fillRect/>
          </a:stretch>
        </p:blipFill>
        <p:spPr>
          <a:xfrm>
            <a:off x="457200" y="1097280"/>
            <a:ext cx="3566160" cy="2286000"/>
          </a:xfrm>
          <a:prstGeom prst="rect">
            <a:avLst/>
          </a:prstGeom>
        </p:spPr>
      </p:pic>
      <p:sp>
        <p:nvSpPr>
          <p:cNvPr id="5" name="caption"/>
          <p:cNvSpPr txBox="1"/>
          <p:nvPr/>
        </p:nvSpPr>
        <p:spPr>
          <a:xfrm>
            <a:off x="457200" y="3474720"/>
            <a:ext cx="3566160" cy="365760"/>
          </a:xfrm>
          <a:prstGeom prst="rect">
            <a:avLst/>
          </a:prstGeom>
          <a:noFill/>
          <a:ln/>
        </p:spPr>
        <p:txBody>
          <a:bodyPr wrap="square" lIns="0" tIns="0" rIns="0" bIns="0" rtlCol="0" anchor="ctr"/>
          <a:lstStyle/>
          <a:p>
            <a:pPr indent="0" marL="0">
              <a:buNone/>
            </a:pPr>
            <a:r>
              <a:rPr lang="en-US" sz="1000" i="1" dirty="0">
                <a:solidFill>
                  <a:schemeClr val="tx2"/>
                </a:solidFill>
              </a:rPr>
              <a:t>http://studytrack.local through ingress-nginx: / → frontend, /api → backend</a:t>
            </a:r>
            <a:endParaRPr lang="en-US" sz="1000" dirty="0"/>
          </a:p>
        </p:txBody>
      </p:sp>
      <p:graphicFrame>
        <p:nvGraphicFramePr>
          <p:cNvPr id="6" name="hpa chart" descr=""/>
          <p:cNvGraphicFramePr/>
          <p:nvPr/>
        </p:nvGraphicFramePr>
        <p:xfrm>
          <a:off x="4297680" y="1051560"/>
          <a:ext cx="4389120" cy="2331720"/>
        </p:xfrm>
        <a:graphic xmlns:a="http://schemas.openxmlformats.org/drawingml/2006/main">
          <a:graphicData uri="http://schemas.openxmlformats.org/drawingml/2006/chart">
            <c:chart xmlns:c="http://schemas.openxmlformats.org/drawingml/2006/chart" r:id="rId2"/>
          </a:graphicData>
        </a:graphic>
      </p:graphicFrame>
      <p:sp>
        <p:nvSpPr>
          <p:cNvPr id="7" name="hpa caption"/>
          <p:cNvSpPr txBox="1"/>
          <p:nvPr/>
        </p:nvSpPr>
        <p:spPr>
          <a:xfrm>
            <a:off x="4297680" y="3429000"/>
            <a:ext cx="4389120" cy="411480"/>
          </a:xfrm>
          <a:prstGeom prst="rect">
            <a:avLst/>
          </a:prstGeom>
          <a:noFill/>
          <a:ln/>
        </p:spPr>
        <p:txBody>
          <a:bodyPr wrap="square" lIns="0" tIns="0" rIns="0" bIns="0" rtlCol="0" anchor="ctr"/>
          <a:lstStyle/>
          <a:p>
            <a:pPr indent="0" marL="0">
              <a:buNone/>
            </a:pPr>
            <a:r>
              <a:rPr lang="en-US" sz="1000" i="1" dirty="0">
                <a:solidFill>
                  <a:schemeClr val="tx2"/>
                </a:solidFill>
              </a:rPr>
              <a:t>Replicas: 2 → 6 within one HPA sync period (SuccessfulRescale, cpu above target), back to 2 after a 60 s stabilisation window.</a:t>
            </a:r>
            <a:endParaRPr lang="en-US" sz="1000" dirty="0"/>
          </a:p>
        </p:txBody>
      </p:sp>
      <p:sp>
        <p:nvSpPr>
          <p:cNvPr id="8" name="card helm upgrade --install studytrack helm/studytrack  →  REVISION 1, deployed"/>
          <p:cNvSpPr/>
          <p:nvPr/>
        </p:nvSpPr>
        <p:spPr>
          <a:xfrm>
            <a:off x="457200" y="3931920"/>
            <a:ext cx="8229600" cy="685800"/>
          </a:xfrm>
          <a:prstGeom prst="roundRect">
            <a:avLst>
              <a:gd name="adj" fmla="val 10667"/>
            </a:avLst>
          </a:prstGeom>
          <a:solidFill>
            <a:schemeClr val="bg2"/>
          </a:solidFill>
          <a:ln w="12700">
            <a:solidFill>
              <a:schemeClr val="bg2"/>
            </a:solidFill>
            <a:prstDash val="solid"/>
          </a:ln>
        </p:spPr>
      </p:sp>
      <p:sp>
        <p:nvSpPr>
          <p:cNvPr id="9" name="card title helm upgrade --install studytrack helm/studytrack  →  REVISION 1, deployed"/>
          <p:cNvSpPr txBox="1"/>
          <p:nvPr/>
        </p:nvSpPr>
        <p:spPr>
          <a:xfrm>
            <a:off x="621792" y="4059936"/>
            <a:ext cx="7900416" cy="329184"/>
          </a:xfrm>
          <a:prstGeom prst="rect">
            <a:avLst/>
          </a:prstGeom>
          <a:noFill/>
          <a:ln/>
        </p:spPr>
        <p:txBody>
          <a:bodyPr wrap="square" lIns="0" tIns="0" rIns="0" bIns="0" rtlCol="0" anchor="ctr"/>
          <a:lstStyle/>
          <a:p>
            <a:pPr indent="0" marL="0">
              <a:buNone/>
            </a:pPr>
            <a:r>
              <a:rPr lang="en-US" sz="1400" b="1" dirty="0">
                <a:solidFill>
                  <a:schemeClr val="tx1"/>
                </a:solidFill>
              </a:rPr>
              <a:t>helm upgrade --install studytrack helm/studytrack  →  REVISION 1, deployed</a:t>
            </a:r>
            <a:endParaRPr lang="en-US" sz="1400" dirty="0"/>
          </a:p>
        </p:txBody>
      </p:sp>
      <p:sp>
        <p:nvSpPr>
          <p:cNvPr id="10" name="card body helm upgrade --install studytrack helm/studytrack  →  REVISION 1, deployed"/>
          <p:cNvSpPr txBox="1"/>
          <p:nvPr/>
        </p:nvSpPr>
        <p:spPr>
          <a:xfrm>
            <a:off x="621792" y="4443984"/>
            <a:ext cx="7900416" cy="82296"/>
          </a:xfrm>
          <a:prstGeom prst="rect">
            <a:avLst/>
          </a:prstGeom>
          <a:noFill/>
          <a:ln/>
        </p:spPr>
        <p:txBody>
          <a:bodyPr wrap="square" lIns="0" tIns="0" rIns="0" bIns="0" rtlCol="0" anchor="t"/>
          <a:lstStyle/>
          <a:p>
            <a:pPr indent="0" marL="0">
              <a:spcAft>
                <a:spcPts val="300"/>
              </a:spcAft>
              <a:buNone/>
            </a:pPr>
            <a:r>
              <a:rPr lang="en-US" sz="1000" dirty="0">
                <a:solidFill>
                  <a:schemeClr val="tx2"/>
                </a:solidFill>
              </a:rPr>
              <a:t>ConfigMap · Secret · PVC + postgres · backend/frontend Deployments with startup/readiness/liveness probes · 3 ClusterIP Services · Ingress · HPA · ServiceMonitor  —  values.yaml + values-dev + values-prod</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M9  Observability: metrics → Prometheus → Grafana</a:t>
            </a:r>
            <a:endParaRPr lang="en-US" sz="2600" dirty="0"/>
          </a:p>
        </p:txBody>
      </p:sp>
      <p:sp>
        <p:nvSpPr>
          <p:cNvPr id="3" name="frame 03-backend-metrics.png"/>
          <p:cNvSpPr/>
          <p:nvPr/>
        </p:nvSpPr>
        <p:spPr>
          <a:xfrm>
            <a:off x="5431536" y="1042416"/>
            <a:ext cx="3310128" cy="2505456"/>
          </a:xfrm>
          <a:prstGeom prst="roundRect">
            <a:avLst>
              <a:gd name="adj" fmla="val 2920"/>
            </a:avLst>
          </a:prstGeom>
          <a:solidFill>
            <a:srgbClr val="0E1726"/>
          </a:solidFill>
          <a:ln w="12700">
            <a:solidFill>
              <a:srgbClr val="0E1726"/>
            </a:solidFill>
            <a:prstDash val="solid"/>
          </a:ln>
          <a:effectLst>
            <a:outerShdw sx="100000" sy="100000" kx="0" ky="0" algn="bl" rotWithShape="0" blurRad="76200" dist="25400" dir="5400000">
              <a:srgbClr val="000000">
                <a:alpha val="25000"/>
              </a:srgbClr>
            </a:outerShdw>
          </a:effectLst>
        </p:spPr>
      </p:sp>
      <p:pic>
        <p:nvPicPr>
          <p:cNvPr id="4" name="screenshot 03-backend-metrics.png" descr="/Users/kushalscaler/devops-heros/session21-python/kushal-24bcs10123/screenshots/03-backend-metrics.png">    </p:cNvPr>
          <p:cNvPicPr>
            <a:picLocks noChangeAspect="1"/>
          </p:cNvPicPr>
          <p:nvPr/>
        </p:nvPicPr>
        <p:blipFill>
          <a:blip r:embed="rId1"/>
          <a:stretch>
            <a:fillRect/>
          </a:stretch>
        </p:blipFill>
        <p:spPr>
          <a:xfrm>
            <a:off x="5486400" y="1097280"/>
            <a:ext cx="3200400" cy="2395728"/>
          </a:xfrm>
          <a:prstGeom prst="rect">
            <a:avLst/>
          </a:prstGeom>
        </p:spPr>
      </p:pic>
      <p:sp>
        <p:nvSpPr>
          <p:cNvPr id="5" name="caption"/>
          <p:cNvSpPr txBox="1"/>
          <p:nvPr/>
        </p:nvSpPr>
        <p:spPr>
          <a:xfrm>
            <a:off x="5486400" y="3566160"/>
            <a:ext cx="3200400" cy="548640"/>
          </a:xfrm>
          <a:prstGeom prst="rect">
            <a:avLst/>
          </a:prstGeom>
          <a:noFill/>
          <a:ln/>
        </p:spPr>
        <p:txBody>
          <a:bodyPr wrap="square" lIns="0" tIns="0" rIns="0" bIns="0" rtlCol="0" anchor="ctr"/>
          <a:lstStyle/>
          <a:p>
            <a:pPr indent="0" marL="0">
              <a:buNone/>
            </a:pPr>
            <a:r>
              <a:rPr lang="en-US" sz="950" i="1" dirty="0">
                <a:solidFill>
                  <a:schemeClr val="tx2"/>
                </a:solidFill>
              </a:rPr>
              <a:t>/metrics: http_requests_total, duration histogram, studytrack_entries_created_total{subject}, studytrack_minutes_logged_total</a:t>
            </a:r>
            <a:endParaRPr lang="en-US" sz="950" dirty="0"/>
          </a:p>
        </p:txBody>
      </p:sp>
      <p:sp>
        <p:nvSpPr>
          <p:cNvPr id="6" name="stat req/s on /api/entries/summary during load"/>
          <p:cNvSpPr txBox="1"/>
          <p:nvPr/>
        </p:nvSpPr>
        <p:spPr>
          <a:xfrm>
            <a:off x="457200" y="1051560"/>
            <a:ext cx="1554480" cy="731520"/>
          </a:xfrm>
          <a:prstGeom prst="rect">
            <a:avLst/>
          </a:prstGeom>
          <a:noFill/>
          <a:ln/>
        </p:spPr>
        <p:txBody>
          <a:bodyPr wrap="square" lIns="0" tIns="0" rIns="0" bIns="0" rtlCol="0" anchor="b"/>
          <a:lstStyle/>
          <a:p>
            <a:pPr algn="l" indent="0" marL="0">
              <a:buNone/>
            </a:pPr>
            <a:r>
              <a:rPr lang="en-US" sz="4000" b="1" dirty="0">
                <a:solidFill>
                  <a:schemeClr val="accent5"/>
                </a:solidFill>
              </a:rPr>
              <a:t>38.9</a:t>
            </a:r>
            <a:endParaRPr lang="en-US" sz="4000" dirty="0"/>
          </a:p>
        </p:txBody>
      </p:sp>
      <p:sp>
        <p:nvSpPr>
          <p:cNvPr id="7" name="stat label req/s on /api/entries/summary during load"/>
          <p:cNvSpPr txBox="1"/>
          <p:nvPr/>
        </p:nvSpPr>
        <p:spPr>
          <a:xfrm>
            <a:off x="457200" y="1801368"/>
            <a:ext cx="1554480" cy="411480"/>
          </a:xfrm>
          <a:prstGeom prst="rect">
            <a:avLst/>
          </a:prstGeom>
          <a:noFill/>
          <a:ln/>
        </p:spPr>
        <p:txBody>
          <a:bodyPr wrap="square" lIns="0" tIns="0" rIns="0" bIns="0" rtlCol="0" anchor="t"/>
          <a:lstStyle/>
          <a:p>
            <a:pPr algn="l" indent="0" marL="0">
              <a:buNone/>
            </a:pPr>
            <a:r>
              <a:rPr lang="en-US" sz="1100" dirty="0">
                <a:solidFill>
                  <a:schemeClr val="tx2"/>
                </a:solidFill>
              </a:rPr>
              <a:t>req/s on /api/entries/summary during load</a:t>
            </a:r>
            <a:endParaRPr lang="en-US" sz="1100" dirty="0"/>
          </a:p>
        </p:txBody>
      </p:sp>
      <p:sp>
        <p:nvSpPr>
          <p:cNvPr id="8" name="stat p95 latency (histogram_quantile 0.95)"/>
          <p:cNvSpPr txBox="1"/>
          <p:nvPr/>
        </p:nvSpPr>
        <p:spPr>
          <a:xfrm>
            <a:off x="2148840" y="1051560"/>
            <a:ext cx="1554480" cy="731520"/>
          </a:xfrm>
          <a:prstGeom prst="rect">
            <a:avLst/>
          </a:prstGeom>
          <a:noFill/>
          <a:ln/>
        </p:spPr>
        <p:txBody>
          <a:bodyPr wrap="square" lIns="0" tIns="0" rIns="0" bIns="0" rtlCol="0" anchor="b"/>
          <a:lstStyle/>
          <a:p>
            <a:pPr algn="l" indent="0" marL="0">
              <a:buNone/>
            </a:pPr>
            <a:r>
              <a:rPr lang="en-US" sz="4000" b="1" dirty="0">
                <a:solidFill>
                  <a:schemeClr val="accent5"/>
                </a:solidFill>
              </a:rPr>
              <a:t>198 ms</a:t>
            </a:r>
            <a:endParaRPr lang="en-US" sz="4000" dirty="0"/>
          </a:p>
        </p:txBody>
      </p:sp>
      <p:sp>
        <p:nvSpPr>
          <p:cNvPr id="9" name="stat label p95 latency (histogram_quantile 0.95)"/>
          <p:cNvSpPr txBox="1"/>
          <p:nvPr/>
        </p:nvSpPr>
        <p:spPr>
          <a:xfrm>
            <a:off x="2148840" y="1801368"/>
            <a:ext cx="1554480" cy="411480"/>
          </a:xfrm>
          <a:prstGeom prst="rect">
            <a:avLst/>
          </a:prstGeom>
          <a:noFill/>
          <a:ln/>
        </p:spPr>
        <p:txBody>
          <a:bodyPr wrap="square" lIns="0" tIns="0" rIns="0" bIns="0" rtlCol="0" anchor="t"/>
          <a:lstStyle/>
          <a:p>
            <a:pPr algn="l" indent="0" marL="0">
              <a:buNone/>
            </a:pPr>
            <a:r>
              <a:rPr lang="en-US" sz="1100" dirty="0">
                <a:solidFill>
                  <a:schemeClr val="tx2"/>
                </a:solidFill>
              </a:rPr>
              <a:t>p95 latency (histogram_quantile 0.95)</a:t>
            </a:r>
            <a:endParaRPr lang="en-US" sz="1100" dirty="0"/>
          </a:p>
        </p:txBody>
      </p:sp>
      <p:sp>
        <p:nvSpPr>
          <p:cNvPr id="10" name="stat backend scrape targets health=up"/>
          <p:cNvSpPr txBox="1"/>
          <p:nvPr/>
        </p:nvSpPr>
        <p:spPr>
          <a:xfrm>
            <a:off x="3840480" y="1051560"/>
            <a:ext cx="1554480" cy="731520"/>
          </a:xfrm>
          <a:prstGeom prst="rect">
            <a:avLst/>
          </a:prstGeom>
          <a:noFill/>
          <a:ln/>
        </p:spPr>
        <p:txBody>
          <a:bodyPr wrap="square" lIns="0" tIns="0" rIns="0" bIns="0" rtlCol="0" anchor="b"/>
          <a:lstStyle/>
          <a:p>
            <a:pPr algn="l" indent="0" marL="0">
              <a:buNone/>
            </a:pPr>
            <a:r>
              <a:rPr lang="en-US" sz="4000" b="1" dirty="0">
                <a:solidFill>
                  <a:schemeClr val="accent2"/>
                </a:solidFill>
              </a:rPr>
              <a:t>2 / 2</a:t>
            </a:r>
            <a:endParaRPr lang="en-US" sz="4000" dirty="0"/>
          </a:p>
        </p:txBody>
      </p:sp>
      <p:sp>
        <p:nvSpPr>
          <p:cNvPr id="11" name="stat label backend scrape targets health=up"/>
          <p:cNvSpPr txBox="1"/>
          <p:nvPr/>
        </p:nvSpPr>
        <p:spPr>
          <a:xfrm>
            <a:off x="3840480" y="1801368"/>
            <a:ext cx="1554480" cy="411480"/>
          </a:xfrm>
          <a:prstGeom prst="rect">
            <a:avLst/>
          </a:prstGeom>
          <a:noFill/>
          <a:ln/>
        </p:spPr>
        <p:txBody>
          <a:bodyPr wrap="square" lIns="0" tIns="0" rIns="0" bIns="0" rtlCol="0" anchor="t"/>
          <a:lstStyle/>
          <a:p>
            <a:pPr algn="l" indent="0" marL="0">
              <a:buNone/>
            </a:pPr>
            <a:r>
              <a:rPr lang="en-US" sz="1100" dirty="0">
                <a:solidFill>
                  <a:schemeClr val="tx2"/>
                </a:solidFill>
              </a:rPr>
              <a:t>backend scrape targets health=up</a:t>
            </a:r>
            <a:endParaRPr lang="en-US" sz="1100" dirty="0"/>
          </a:p>
        </p:txBody>
      </p:sp>
      <p:sp>
        <p:nvSpPr>
          <p:cNvPr id="12" name="card Three alert rules (PrometheusRule)"/>
          <p:cNvSpPr/>
          <p:nvPr/>
        </p:nvSpPr>
        <p:spPr>
          <a:xfrm>
            <a:off x="457200" y="2377440"/>
            <a:ext cx="4846320" cy="1051560"/>
          </a:xfrm>
          <a:prstGeom prst="roundRect">
            <a:avLst>
              <a:gd name="adj" fmla="val 6957"/>
            </a:avLst>
          </a:prstGeom>
          <a:solidFill>
            <a:schemeClr val="bg2"/>
          </a:solidFill>
          <a:ln w="12700">
            <a:solidFill>
              <a:schemeClr val="bg2"/>
            </a:solidFill>
            <a:prstDash val="solid"/>
          </a:ln>
        </p:spPr>
      </p:sp>
      <p:sp>
        <p:nvSpPr>
          <p:cNvPr id="13" name="card title Three alert rules (PrometheusRule)"/>
          <p:cNvSpPr txBox="1"/>
          <p:nvPr/>
        </p:nvSpPr>
        <p:spPr>
          <a:xfrm>
            <a:off x="621792" y="2505456"/>
            <a:ext cx="4517136" cy="329184"/>
          </a:xfrm>
          <a:prstGeom prst="rect">
            <a:avLst/>
          </a:prstGeom>
          <a:noFill/>
          <a:ln/>
        </p:spPr>
        <p:txBody>
          <a:bodyPr wrap="square" lIns="0" tIns="0" rIns="0" bIns="0" rtlCol="0" anchor="ctr"/>
          <a:lstStyle/>
          <a:p>
            <a:pPr indent="0" marL="0">
              <a:buNone/>
            </a:pPr>
            <a:r>
              <a:rPr lang="en-US" sz="1400" b="1" dirty="0">
                <a:solidFill>
                  <a:schemeClr val="tx1"/>
                </a:solidFill>
              </a:rPr>
              <a:t>Three alert rules (PrometheusRule)</a:t>
            </a:r>
            <a:endParaRPr lang="en-US" sz="1400" dirty="0"/>
          </a:p>
        </p:txBody>
      </p:sp>
      <p:sp>
        <p:nvSpPr>
          <p:cNvPr id="14" name="card body Three alert rules (PrometheusRule)"/>
          <p:cNvSpPr txBox="1"/>
          <p:nvPr/>
        </p:nvSpPr>
        <p:spPr>
          <a:xfrm>
            <a:off x="621792" y="2889504"/>
            <a:ext cx="4517136" cy="448056"/>
          </a:xfrm>
          <a:prstGeom prst="rect">
            <a:avLst/>
          </a:prstGeom>
          <a:noFill/>
          <a:ln/>
        </p:spPr>
        <p:txBody>
          <a:bodyPr wrap="square" lIns="0" tIns="0" rIns="0" bIns="0" rtlCol="0" anchor="t"/>
          <a:lstStyle/>
          <a:p>
            <a:pPr indent="0" marL="0">
              <a:spcAft>
                <a:spcPts val="300"/>
              </a:spcAft>
              <a:buNone/>
            </a:pPr>
            <a:r>
              <a:rPr lang="en-US" sz="1050" dirty="0">
                <a:solidFill>
                  <a:schemeClr val="tx2"/>
                </a:solidFill>
              </a:rPr>
              <a:t>backend target down · 5xx ratio above 5% · p95 above 500 ms – all inactive / health=ok while the app is healthy</a:t>
            </a:r>
            <a:endParaRPr lang="en-US" sz="1050" dirty="0"/>
          </a:p>
        </p:txBody>
      </p:sp>
      <p:sp>
        <p:nvSpPr>
          <p:cNvPr id="15" name="card Grafana dashboard uid studytrack, 8 panels, imported via API"/>
          <p:cNvSpPr/>
          <p:nvPr/>
        </p:nvSpPr>
        <p:spPr>
          <a:xfrm>
            <a:off x="457200" y="3566160"/>
            <a:ext cx="4846320" cy="1051560"/>
          </a:xfrm>
          <a:prstGeom prst="roundRect">
            <a:avLst>
              <a:gd name="adj" fmla="val 6957"/>
            </a:avLst>
          </a:prstGeom>
          <a:solidFill>
            <a:schemeClr val="bg2"/>
          </a:solidFill>
          <a:ln w="12700">
            <a:solidFill>
              <a:schemeClr val="bg2"/>
            </a:solidFill>
            <a:prstDash val="solid"/>
          </a:ln>
        </p:spPr>
      </p:sp>
      <p:sp>
        <p:nvSpPr>
          <p:cNvPr id="16" name="card title Grafana dashboard uid studytrack, 8 panels, imported via API"/>
          <p:cNvSpPr txBox="1"/>
          <p:nvPr/>
        </p:nvSpPr>
        <p:spPr>
          <a:xfrm>
            <a:off x="621792" y="3694176"/>
            <a:ext cx="4517136" cy="329184"/>
          </a:xfrm>
          <a:prstGeom prst="rect">
            <a:avLst/>
          </a:prstGeom>
          <a:noFill/>
          <a:ln/>
        </p:spPr>
        <p:txBody>
          <a:bodyPr wrap="square" lIns="0" tIns="0" rIns="0" bIns="0" rtlCol="0" anchor="ctr"/>
          <a:lstStyle/>
          <a:p>
            <a:pPr indent="0" marL="0">
              <a:buNone/>
            </a:pPr>
            <a:r>
              <a:rPr lang="en-US" sz="1400" b="1" dirty="0">
                <a:solidFill>
                  <a:schemeClr val="tx1"/>
                </a:solidFill>
              </a:rPr>
              <a:t>Grafana dashboard uid studytrack, 8 panels, imported via API</a:t>
            </a:r>
            <a:endParaRPr lang="en-US" sz="1400" dirty="0"/>
          </a:p>
        </p:txBody>
      </p:sp>
      <p:sp>
        <p:nvSpPr>
          <p:cNvPr id="17" name="card body Grafana dashboard uid studytrack, 8 panels, imported via API"/>
          <p:cNvSpPr txBox="1"/>
          <p:nvPr/>
        </p:nvSpPr>
        <p:spPr>
          <a:xfrm>
            <a:off x="621792" y="4078224"/>
            <a:ext cx="4517136" cy="448056"/>
          </a:xfrm>
          <a:prstGeom prst="rect">
            <a:avLst/>
          </a:prstGeom>
          <a:noFill/>
          <a:ln/>
        </p:spPr>
        <p:txBody>
          <a:bodyPr wrap="square" lIns="0" tIns="0" rIns="0" bIns="0" rtlCol="0" anchor="t"/>
          <a:lstStyle/>
          <a:p>
            <a:pPr indent="0" marL="0">
              <a:spcAft>
                <a:spcPts val="300"/>
              </a:spcAft>
              <a:buNone/>
            </a:pPr>
            <a:r>
              <a:rPr lang="en-US" sz="1050" dirty="0">
                <a:solidFill>
                  <a:schemeClr val="tx2"/>
                </a:solidFill>
              </a:rPr>
              <a:t>targets up · req/s · p95 · minutes logged · req/s by handler · status codes · CPU vs request · HPA replicas – panels return live data</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M10  Commit → pipeline → rollout, already run once</a:t>
            </a:r>
            <a:endParaRPr lang="en-US" sz="2600" dirty="0"/>
          </a:p>
        </p:txBody>
      </p:sp>
      <p:sp>
        <p:nvSpPr>
          <p:cNvPr id="3" name="tag 1"/>
          <p:cNvSpPr/>
          <p:nvPr/>
        </p:nvSpPr>
        <p:spPr>
          <a:xfrm>
            <a:off x="457200" y="1188720"/>
            <a:ext cx="384048" cy="384048"/>
          </a:xfrm>
          <a:prstGeom prst="ellipse">
            <a:avLst/>
          </a:prstGeom>
          <a:solidFill>
            <a:srgbClr val="E59F2B"/>
          </a:solidFill>
          <a:ln w="12700">
            <a:solidFill>
              <a:srgbClr val="E59F2B"/>
            </a:solidFill>
            <a:prstDash val="solid"/>
          </a:ln>
        </p:spPr>
      </p:sp>
      <p:sp>
        <p:nvSpPr>
          <p:cNvPr id="4" name="tag label 1"/>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5" name="arrow"/>
          <p:cNvSpPr/>
          <p:nvPr/>
        </p:nvSpPr>
        <p:spPr>
          <a:xfrm>
            <a:off x="914400" y="1380744"/>
            <a:ext cx="1152144" cy="914"/>
          </a:xfrm>
          <a:prstGeom prst="line">
            <a:avLst/>
          </a:prstGeom>
          <a:noFill/>
          <a:ln w="19050">
            <a:solidFill>
              <a:srgbClr val="4A5568"/>
            </a:solidFill>
            <a:prstDash val="solid"/>
            <a:tailEnd type="triangle"/>
          </a:ln>
        </p:spPr>
      </p:sp>
      <p:sp>
        <p:nvSpPr>
          <p:cNvPr id="6" name="step title 1"/>
          <p:cNvSpPr txBox="1"/>
          <p:nvPr/>
        </p:nvSpPr>
        <p:spPr>
          <a:xfrm>
            <a:off x="457200" y="1691640"/>
            <a:ext cx="1554480" cy="457200"/>
          </a:xfrm>
          <a:prstGeom prst="rect">
            <a:avLst/>
          </a:prstGeom>
          <a:noFill/>
          <a:ln/>
        </p:spPr>
        <p:txBody>
          <a:bodyPr wrap="square" lIns="0" tIns="0" rIns="0" bIns="0" rtlCol="0" anchor="t"/>
          <a:lstStyle/>
          <a:p>
            <a:pPr indent="0" marL="0">
              <a:buNone/>
            </a:pPr>
            <a:r>
              <a:rPr lang="en-US" sz="1200" b="1" dirty="0">
                <a:solidFill>
                  <a:schemeClr val="tx1"/>
                </a:solidFill>
              </a:rPr>
              <a:t>commit ada2a45</a:t>
            </a:r>
            <a:endParaRPr lang="en-US" sz="1200" dirty="0"/>
          </a:p>
        </p:txBody>
      </p:sp>
      <p:sp>
        <p:nvSpPr>
          <p:cNvPr id="7" name="step desc 1"/>
          <p:cNvSpPr txBox="1"/>
          <p:nvPr/>
        </p:nvSpPr>
        <p:spPr>
          <a:xfrm>
            <a:off x="457200" y="2148840"/>
            <a:ext cx="1554480" cy="822960"/>
          </a:xfrm>
          <a:prstGeom prst="rect">
            <a:avLst/>
          </a:prstGeom>
          <a:noFill/>
          <a:ln/>
        </p:spPr>
        <p:txBody>
          <a:bodyPr wrap="square" lIns="0" tIns="0" rIns="0" bIns="0" rtlCol="0" anchor="t"/>
          <a:lstStyle/>
          <a:p>
            <a:pPr indent="0" marL="0">
              <a:buNone/>
            </a:pPr>
            <a:r>
              <a:rPr lang="en-US" sz="1000" dirty="0">
                <a:solidFill>
                  <a:schemeClr val="tx2"/>
                </a:solidFill>
              </a:rPr>
              <a:t>entrypoint.sh retries alembic while postgres starts</a:t>
            </a:r>
            <a:endParaRPr lang="en-US" sz="1000" dirty="0"/>
          </a:p>
        </p:txBody>
      </p:sp>
      <p:sp>
        <p:nvSpPr>
          <p:cNvPr id="8" name="tag 2"/>
          <p:cNvSpPr/>
          <p:nvPr/>
        </p:nvSpPr>
        <p:spPr>
          <a:xfrm>
            <a:off x="2139696" y="1188720"/>
            <a:ext cx="384048" cy="384048"/>
          </a:xfrm>
          <a:prstGeom prst="ellipse">
            <a:avLst/>
          </a:prstGeom>
          <a:solidFill>
            <a:srgbClr val="1FA68F"/>
          </a:solidFill>
          <a:ln w="12700">
            <a:solidFill>
              <a:srgbClr val="1FA68F"/>
            </a:solidFill>
            <a:prstDash val="solid"/>
          </a:ln>
        </p:spPr>
      </p:sp>
      <p:sp>
        <p:nvSpPr>
          <p:cNvPr id="9" name="tag label 2"/>
          <p:cNvSpPr txBox="1"/>
          <p:nvPr/>
        </p:nvSpPr>
        <p:spPr>
          <a:xfrm>
            <a:off x="2139696" y="118872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0" name="arrow"/>
          <p:cNvSpPr/>
          <p:nvPr/>
        </p:nvSpPr>
        <p:spPr>
          <a:xfrm>
            <a:off x="2596896" y="1380744"/>
            <a:ext cx="1152144" cy="914"/>
          </a:xfrm>
          <a:prstGeom prst="line">
            <a:avLst/>
          </a:prstGeom>
          <a:noFill/>
          <a:ln w="19050">
            <a:solidFill>
              <a:srgbClr val="4A5568"/>
            </a:solidFill>
            <a:prstDash val="solid"/>
            <a:tailEnd type="triangle"/>
          </a:ln>
        </p:spPr>
      </p:sp>
      <p:sp>
        <p:nvSpPr>
          <p:cNvPr id="11" name="step title 2"/>
          <p:cNvSpPr txBox="1"/>
          <p:nvPr/>
        </p:nvSpPr>
        <p:spPr>
          <a:xfrm>
            <a:off x="2139696" y="1691640"/>
            <a:ext cx="1554480" cy="457200"/>
          </a:xfrm>
          <a:prstGeom prst="rect">
            <a:avLst/>
          </a:prstGeom>
          <a:noFill/>
          <a:ln/>
        </p:spPr>
        <p:txBody>
          <a:bodyPr wrap="square" lIns="0" tIns="0" rIns="0" bIns="0" rtlCol="0" anchor="t"/>
          <a:lstStyle/>
          <a:p>
            <a:pPr indent="0" marL="0">
              <a:buNone/>
            </a:pPr>
            <a:r>
              <a:rPr lang="en-US" sz="1200" b="1" dirty="0">
                <a:solidFill>
                  <a:schemeClr val="tx1"/>
                </a:solidFill>
              </a:rPr>
              <a:t>run 37665794354 green</a:t>
            </a:r>
            <a:endParaRPr lang="en-US" sz="1200" dirty="0"/>
          </a:p>
        </p:txBody>
      </p:sp>
      <p:sp>
        <p:nvSpPr>
          <p:cNvPr id="12" name="step desc 2"/>
          <p:cNvSpPr txBox="1"/>
          <p:nvPr/>
        </p:nvSpPr>
        <p:spPr>
          <a:xfrm>
            <a:off x="2139696" y="2148840"/>
            <a:ext cx="1554480" cy="822960"/>
          </a:xfrm>
          <a:prstGeom prst="rect">
            <a:avLst/>
          </a:prstGeom>
          <a:noFill/>
          <a:ln/>
        </p:spPr>
        <p:txBody>
          <a:bodyPr wrap="square" lIns="0" tIns="0" rIns="0" bIns="0" rtlCol="0" anchor="t"/>
          <a:lstStyle/>
          <a:p>
            <a:pPr indent="0" marL="0">
              <a:buNone/>
            </a:pPr>
            <a:r>
              <a:rPr lang="en-US" sz="1000" dirty="0">
                <a:solidFill>
                  <a:schemeClr val="tx2"/>
                </a:solidFill>
              </a:rPr>
              <a:t>tests, 4 gates, 2 multi-arch images, trivy clean</a:t>
            </a:r>
            <a:endParaRPr lang="en-US" sz="1000" dirty="0"/>
          </a:p>
        </p:txBody>
      </p:sp>
      <p:sp>
        <p:nvSpPr>
          <p:cNvPr id="13" name="tag 3"/>
          <p:cNvSpPr/>
          <p:nvPr/>
        </p:nvSpPr>
        <p:spPr>
          <a:xfrm>
            <a:off x="3822192" y="1188720"/>
            <a:ext cx="384048" cy="384048"/>
          </a:xfrm>
          <a:prstGeom prst="ellipse">
            <a:avLst/>
          </a:prstGeom>
          <a:solidFill>
            <a:srgbClr val="3B6EA5"/>
          </a:solidFill>
          <a:ln w="12700">
            <a:solidFill>
              <a:srgbClr val="3B6EA5"/>
            </a:solidFill>
            <a:prstDash val="solid"/>
          </a:ln>
        </p:spPr>
      </p:sp>
      <p:sp>
        <p:nvSpPr>
          <p:cNvPr id="14" name="tag label 3"/>
          <p:cNvSpPr txBox="1"/>
          <p:nvPr/>
        </p:nvSpPr>
        <p:spPr>
          <a:xfrm>
            <a:off x="3822192" y="118872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arrow"/>
          <p:cNvSpPr/>
          <p:nvPr/>
        </p:nvSpPr>
        <p:spPr>
          <a:xfrm>
            <a:off x="4279392" y="1380744"/>
            <a:ext cx="1152144" cy="914"/>
          </a:xfrm>
          <a:prstGeom prst="line">
            <a:avLst/>
          </a:prstGeom>
          <a:noFill/>
          <a:ln w="19050">
            <a:solidFill>
              <a:srgbClr val="4A5568"/>
            </a:solidFill>
            <a:prstDash val="solid"/>
            <a:tailEnd type="triangle"/>
          </a:ln>
        </p:spPr>
      </p:sp>
      <p:sp>
        <p:nvSpPr>
          <p:cNvPr id="16" name="step title 3"/>
          <p:cNvSpPr txBox="1"/>
          <p:nvPr/>
        </p:nvSpPr>
        <p:spPr>
          <a:xfrm>
            <a:off x="3822192" y="1691640"/>
            <a:ext cx="1554480" cy="457200"/>
          </a:xfrm>
          <a:prstGeom prst="rect">
            <a:avLst/>
          </a:prstGeom>
          <a:noFill/>
          <a:ln/>
        </p:spPr>
        <p:txBody>
          <a:bodyPr wrap="square" lIns="0" tIns="0" rIns="0" bIns="0" rtlCol="0" anchor="t"/>
          <a:lstStyle/>
          <a:p>
            <a:pPr indent="0" marL="0">
              <a:buNone/>
            </a:pPr>
            <a:r>
              <a:rPr lang="en-US" sz="1200" b="1" dirty="0">
                <a:solidFill>
                  <a:schemeClr val="tx1"/>
                </a:solidFill>
              </a:rPr>
              <a:t>deploy commits 58f742e</a:t>
            </a:r>
            <a:endParaRPr lang="en-US" sz="1200" dirty="0"/>
          </a:p>
        </p:txBody>
      </p:sp>
      <p:sp>
        <p:nvSpPr>
          <p:cNvPr id="17" name="step desc 3"/>
          <p:cNvSpPr txBox="1"/>
          <p:nvPr/>
        </p:nvSpPr>
        <p:spPr>
          <a:xfrm>
            <a:off x="3822192" y="2148840"/>
            <a:ext cx="1554480" cy="822960"/>
          </a:xfrm>
          <a:prstGeom prst="rect">
            <a:avLst/>
          </a:prstGeom>
          <a:noFill/>
          <a:ln/>
        </p:spPr>
        <p:txBody>
          <a:bodyPr wrap="square" lIns="0" tIns="0" rIns="0" bIns="0" rtlCol="0" anchor="t"/>
          <a:lstStyle/>
          <a:p>
            <a:pPr indent="0" marL="0">
              <a:buNone/>
            </a:pPr>
            <a:r>
              <a:rPr lang="en-US" sz="1000" dirty="0">
                <a:solidFill>
                  <a:schemeClr val="tx2"/>
                </a:solidFill>
              </a:rPr>
              <a:t>tag: sha-ada2a45 written into values.yaml [skip ci]</a:t>
            </a:r>
            <a:endParaRPr lang="en-US" sz="1000" dirty="0"/>
          </a:p>
        </p:txBody>
      </p:sp>
      <p:sp>
        <p:nvSpPr>
          <p:cNvPr id="18" name="tag 4"/>
          <p:cNvSpPr/>
          <p:nvPr/>
        </p:nvSpPr>
        <p:spPr>
          <a:xfrm>
            <a:off x="5504688" y="1188720"/>
            <a:ext cx="384048" cy="384048"/>
          </a:xfrm>
          <a:prstGeom prst="ellipse">
            <a:avLst/>
          </a:prstGeom>
          <a:solidFill>
            <a:srgbClr val="8C6BBF"/>
          </a:solidFill>
          <a:ln w="12700">
            <a:solidFill>
              <a:srgbClr val="8C6BBF"/>
            </a:solidFill>
            <a:prstDash val="solid"/>
          </a:ln>
        </p:spPr>
      </p:sp>
      <p:sp>
        <p:nvSpPr>
          <p:cNvPr id="19" name="tag label 4"/>
          <p:cNvSpPr txBox="1"/>
          <p:nvPr/>
        </p:nvSpPr>
        <p:spPr>
          <a:xfrm>
            <a:off x="5504688" y="118872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arrow"/>
          <p:cNvSpPr/>
          <p:nvPr/>
        </p:nvSpPr>
        <p:spPr>
          <a:xfrm>
            <a:off x="5961888" y="1380744"/>
            <a:ext cx="1152144" cy="914"/>
          </a:xfrm>
          <a:prstGeom prst="line">
            <a:avLst/>
          </a:prstGeom>
          <a:noFill/>
          <a:ln w="19050">
            <a:solidFill>
              <a:srgbClr val="4A5568"/>
            </a:solidFill>
            <a:prstDash val="solid"/>
            <a:tailEnd type="triangle"/>
          </a:ln>
        </p:spPr>
      </p:sp>
      <p:sp>
        <p:nvSpPr>
          <p:cNvPr id="21" name="step title 4"/>
          <p:cNvSpPr txBox="1"/>
          <p:nvPr/>
        </p:nvSpPr>
        <p:spPr>
          <a:xfrm>
            <a:off x="5504688" y="1691640"/>
            <a:ext cx="1554480" cy="457200"/>
          </a:xfrm>
          <a:prstGeom prst="rect">
            <a:avLst/>
          </a:prstGeom>
          <a:noFill/>
          <a:ln/>
        </p:spPr>
        <p:txBody>
          <a:bodyPr wrap="square" lIns="0" tIns="0" rIns="0" bIns="0" rtlCol="0" anchor="t"/>
          <a:lstStyle/>
          <a:p>
            <a:pPr indent="0" marL="0">
              <a:buNone/>
            </a:pPr>
            <a:r>
              <a:rPr lang="en-US" sz="1200" b="1" dirty="0">
                <a:solidFill>
                  <a:schemeClr val="tx1"/>
                </a:solidFill>
              </a:rPr>
              <a:t>Argo CD history id 1</a:t>
            </a:r>
            <a:endParaRPr lang="en-US" sz="1200" dirty="0"/>
          </a:p>
        </p:txBody>
      </p:sp>
      <p:sp>
        <p:nvSpPr>
          <p:cNvPr id="22" name="step desc 4"/>
          <p:cNvSpPr txBox="1"/>
          <p:nvPr/>
        </p:nvSpPr>
        <p:spPr>
          <a:xfrm>
            <a:off x="5504688" y="2148840"/>
            <a:ext cx="1554480" cy="822960"/>
          </a:xfrm>
          <a:prstGeom prst="rect">
            <a:avLst/>
          </a:prstGeom>
          <a:noFill/>
          <a:ln/>
        </p:spPr>
        <p:txBody>
          <a:bodyPr wrap="square" lIns="0" tIns="0" rIns="0" bIns="0" rtlCol="0" anchor="t"/>
          <a:lstStyle/>
          <a:p>
            <a:pPr indent="0" marL="0">
              <a:buNone/>
            </a:pPr>
            <a:r>
              <a:rPr lang="en-US" sz="1000" dirty="0">
                <a:solidFill>
                  <a:schemeClr val="tx2"/>
                </a:solidFill>
              </a:rPr>
              <a:t>deployedAt 18:23:41Z, revision 58f742e – picked up automatically</a:t>
            </a:r>
            <a:endParaRPr lang="en-US" sz="1000" dirty="0"/>
          </a:p>
        </p:txBody>
      </p:sp>
      <p:sp>
        <p:nvSpPr>
          <p:cNvPr id="23" name="tag 5"/>
          <p:cNvSpPr/>
          <p:nvPr/>
        </p:nvSpPr>
        <p:spPr>
          <a:xfrm>
            <a:off x="7187184" y="1188720"/>
            <a:ext cx="384048" cy="384048"/>
          </a:xfrm>
          <a:prstGeom prst="ellipse">
            <a:avLst/>
          </a:prstGeom>
          <a:solidFill>
            <a:srgbClr val="1FA68F"/>
          </a:solidFill>
          <a:ln w="12700">
            <a:solidFill>
              <a:srgbClr val="1FA68F"/>
            </a:solidFill>
            <a:prstDash val="solid"/>
          </a:ln>
        </p:spPr>
      </p:sp>
      <p:sp>
        <p:nvSpPr>
          <p:cNvPr id="24" name="tag label 5"/>
          <p:cNvSpPr txBox="1"/>
          <p:nvPr/>
        </p:nvSpPr>
        <p:spPr>
          <a:xfrm>
            <a:off x="7187184" y="118872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5" name="step title 5"/>
          <p:cNvSpPr txBox="1"/>
          <p:nvPr/>
        </p:nvSpPr>
        <p:spPr>
          <a:xfrm>
            <a:off x="7187184" y="1691640"/>
            <a:ext cx="1554480" cy="457200"/>
          </a:xfrm>
          <a:prstGeom prst="rect">
            <a:avLst/>
          </a:prstGeom>
          <a:noFill/>
          <a:ln/>
        </p:spPr>
        <p:txBody>
          <a:bodyPr wrap="square" lIns="0" tIns="0" rIns="0" bIns="0" rtlCol="0" anchor="t"/>
          <a:lstStyle/>
          <a:p>
            <a:pPr indent="0" marL="0">
              <a:buNone/>
            </a:pPr>
            <a:r>
              <a:rPr lang="en-US" sz="1200" b="1" dirty="0">
                <a:solidFill>
                  <a:schemeClr val="tx1"/>
                </a:solidFill>
              </a:rPr>
              <a:t>both Deployments rolled</a:t>
            </a:r>
            <a:endParaRPr lang="en-US" sz="1200" dirty="0"/>
          </a:p>
        </p:txBody>
      </p:sp>
      <p:sp>
        <p:nvSpPr>
          <p:cNvPr id="26" name="step desc 5"/>
          <p:cNvSpPr txBox="1"/>
          <p:nvPr/>
        </p:nvSpPr>
        <p:spPr>
          <a:xfrm>
            <a:off x="7187184" y="2148840"/>
            <a:ext cx="1554480" cy="822960"/>
          </a:xfrm>
          <a:prstGeom prst="rect">
            <a:avLst/>
          </a:prstGeom>
          <a:noFill/>
          <a:ln/>
        </p:spPr>
        <p:txBody>
          <a:bodyPr wrap="square" lIns="0" tIns="0" rIns="0" bIns="0" rtlCol="0" anchor="t"/>
          <a:lstStyle/>
          <a:p>
            <a:pPr indent="0" marL="0">
              <a:buNone/>
            </a:pPr>
            <a:r>
              <a:rPr lang="en-US" sz="1000" dirty="0">
                <a:solidFill>
                  <a:schemeClr val="tx2"/>
                </a:solidFill>
              </a:rPr>
              <a:t>ScalingReplicaSet events, new entrypoint log line, data intact (PVC)</a:t>
            </a:r>
            <a:endParaRPr lang="en-US" sz="1000" dirty="0"/>
          </a:p>
        </p:txBody>
      </p:sp>
      <p:sp>
        <p:nvSpPr>
          <p:cNvPr id="27" name="card Self-heal, observed"/>
          <p:cNvSpPr/>
          <p:nvPr/>
        </p:nvSpPr>
        <p:spPr>
          <a:xfrm>
            <a:off x="457200" y="3108960"/>
            <a:ext cx="4023360" cy="1463040"/>
          </a:xfrm>
          <a:prstGeom prst="roundRect">
            <a:avLst>
              <a:gd name="adj" fmla="val 5000"/>
            </a:avLst>
          </a:prstGeom>
          <a:solidFill>
            <a:schemeClr val="bg2"/>
          </a:solidFill>
          <a:ln w="12700">
            <a:solidFill>
              <a:schemeClr val="bg2"/>
            </a:solidFill>
            <a:prstDash val="solid"/>
          </a:ln>
        </p:spPr>
      </p:sp>
      <p:sp>
        <p:nvSpPr>
          <p:cNvPr id="28" name="card title Self-heal, observed"/>
          <p:cNvSpPr txBox="1"/>
          <p:nvPr/>
        </p:nvSpPr>
        <p:spPr>
          <a:xfrm>
            <a:off x="621792" y="3236976"/>
            <a:ext cx="3694176" cy="329184"/>
          </a:xfrm>
          <a:prstGeom prst="rect">
            <a:avLst/>
          </a:prstGeom>
          <a:noFill/>
          <a:ln/>
        </p:spPr>
        <p:txBody>
          <a:bodyPr wrap="square" lIns="0" tIns="0" rIns="0" bIns="0" rtlCol="0" anchor="ctr"/>
          <a:lstStyle/>
          <a:p>
            <a:pPr indent="0" marL="0">
              <a:buNone/>
            </a:pPr>
            <a:r>
              <a:rPr lang="en-US" sz="1400" b="1" dirty="0">
                <a:solidFill>
                  <a:schemeClr val="tx1"/>
                </a:solidFill>
              </a:rPr>
              <a:t>Self-heal, observed</a:t>
            </a:r>
            <a:endParaRPr lang="en-US" sz="1400" dirty="0"/>
          </a:p>
        </p:txBody>
      </p:sp>
      <p:sp>
        <p:nvSpPr>
          <p:cNvPr id="29" name="card body Self-heal, observed"/>
          <p:cNvSpPr txBox="1"/>
          <p:nvPr/>
        </p:nvSpPr>
        <p:spPr>
          <a:xfrm>
            <a:off x="621792" y="3621024"/>
            <a:ext cx="3694176" cy="859536"/>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chemeClr val="tx2"/>
                </a:solidFill>
              </a:rPr>
              <a:t>kubectl scale deploy studytrack-frontend --replicas=5 was reverted to the 2 replicas in git within about 2 minutes, without me doing anything</a:t>
            </a:r>
            <a:endParaRPr lang="en-US" sz="1050" dirty="0"/>
          </a:p>
          <a:p>
            <a:pPr marL="127000" indent="-127000">
              <a:spcAft>
                <a:spcPts val="300"/>
              </a:spcAft>
              <a:buSzPct val="100000"/>
              <a:buChar char="•"/>
            </a:pPr>
            <a:r>
              <a:rPr lang="en-US" sz="1050" dirty="0">
                <a:solidFill>
                  <a:schemeClr val="tx2"/>
                </a:solidFill>
              </a:rPr>
              <a:t>prune deletes what git deleted; the git log is the deployment history</a:t>
            </a:r>
            <a:endParaRPr lang="en-US" sz="1050" dirty="0"/>
          </a:p>
        </p:txBody>
      </p:sp>
      <p:sp>
        <p:nvSpPr>
          <p:cNvPr id="30" name="card Why GitOps here"/>
          <p:cNvSpPr/>
          <p:nvPr/>
        </p:nvSpPr>
        <p:spPr>
          <a:xfrm>
            <a:off x="4663440" y="3108960"/>
            <a:ext cx="4023360" cy="1463040"/>
          </a:xfrm>
          <a:prstGeom prst="roundRect">
            <a:avLst>
              <a:gd name="adj" fmla="val 5000"/>
            </a:avLst>
          </a:prstGeom>
          <a:solidFill>
            <a:schemeClr val="bg2"/>
          </a:solidFill>
          <a:ln w="12700">
            <a:solidFill>
              <a:schemeClr val="bg2"/>
            </a:solidFill>
            <a:prstDash val="solid"/>
          </a:ln>
        </p:spPr>
      </p:sp>
      <p:sp>
        <p:nvSpPr>
          <p:cNvPr id="31" name="card title Why GitOps here"/>
          <p:cNvSpPr txBox="1"/>
          <p:nvPr/>
        </p:nvSpPr>
        <p:spPr>
          <a:xfrm>
            <a:off x="4828032" y="3236976"/>
            <a:ext cx="3694176" cy="329184"/>
          </a:xfrm>
          <a:prstGeom prst="rect">
            <a:avLst/>
          </a:prstGeom>
          <a:noFill/>
          <a:ln/>
        </p:spPr>
        <p:txBody>
          <a:bodyPr wrap="square" lIns="0" tIns="0" rIns="0" bIns="0" rtlCol="0" anchor="ctr"/>
          <a:lstStyle/>
          <a:p>
            <a:pPr indent="0" marL="0">
              <a:buNone/>
            </a:pPr>
            <a:r>
              <a:rPr lang="en-US" sz="1400" b="1" dirty="0">
                <a:solidFill>
                  <a:schemeClr val="tx1"/>
                </a:solidFill>
              </a:rPr>
              <a:t>Why GitOps here</a:t>
            </a:r>
            <a:endParaRPr lang="en-US" sz="1400" dirty="0"/>
          </a:p>
        </p:txBody>
      </p:sp>
      <p:sp>
        <p:nvSpPr>
          <p:cNvPr id="32" name="card body Why GitOps here"/>
          <p:cNvSpPr txBox="1"/>
          <p:nvPr/>
        </p:nvSpPr>
        <p:spPr>
          <a:xfrm>
            <a:off x="4828032" y="3621024"/>
            <a:ext cx="3694176" cy="859536"/>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chemeClr val="tx2"/>
                </a:solidFill>
              </a:rPr>
              <a:t>CI cannot reach a kind cluster on my laptop – and the runner should not hold a kubeconfig anyway</a:t>
            </a:r>
            <a:endParaRPr lang="en-US" sz="1050" dirty="0"/>
          </a:p>
          <a:p>
            <a:pPr marL="127000" indent="-127000">
              <a:spcAft>
                <a:spcPts val="300"/>
              </a:spcAft>
              <a:buSzPct val="100000"/>
              <a:buChar char="•"/>
            </a:pPr>
            <a:r>
              <a:rPr lang="en-US" sz="1050" dirty="0">
                <a:solidFill>
                  <a:schemeClr val="tx2"/>
                </a:solidFill>
              </a:rPr>
              <a:t>The pipeline changes one line in git; Argo CD, which already has cluster access, does the apply</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Failure simulation: three manifests, one method</a:t>
            </a:r>
            <a:endParaRPr lang="en-US" sz="2600" dirty="0"/>
          </a:p>
        </p:txBody>
      </p:sp>
      <p:graphicFrame>
        <p:nvGraphicFramePr>
          <p:cNvPr id="13" name="troubleshooting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377440"/>
                <a:gridCol w="3108960"/>
                <a:gridCol w="2743200"/>
              </a:tblGrid>
              <a:tr h="320040">
                <a:tc>
                  <a:txBody>
                    <a:bodyPr/>
                    <a:lstStyle/>
                    <a:p>
                      <a:pPr indent="0" marL="0">
                        <a:buNone/>
                      </a:pPr>
                      <a:r>
                        <a:rPr lang="en-US" sz="1000" b="1" dirty="0">
                          <a:solidFill>
                            <a:srgbClr val="FFFFFF"/>
                          </a:solidFill>
                        </a:rPr>
                        <a:t>Symptom</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1726"/>
                    </a:solidFill>
                  </a:tcPr>
                </a:tc>
                <a:tc>
                  <a:txBody>
                    <a:bodyPr/>
                    <a:lstStyle/>
                    <a:p>
                      <a:pPr indent="0" marL="0">
                        <a:buNone/>
                      </a:pPr>
                      <a:r>
                        <a:rPr lang="en-US" sz="1000" b="1" dirty="0">
                          <a:solidFill>
                            <a:srgbClr val="FFFFFF"/>
                          </a:solidFill>
                        </a:rPr>
                        <a:t>How I found it</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1726"/>
                    </a:solidFill>
                  </a:tcPr>
                </a:tc>
                <a:tc>
                  <a:txBody>
                    <a:bodyPr/>
                    <a:lstStyle/>
                    <a:p>
                      <a:pPr indent="0" marL="0">
                        <a:buNone/>
                      </a:pPr>
                      <a:r>
                        <a:rPr lang="en-US" sz="1000" b="1" dirty="0">
                          <a:solidFill>
                            <a:srgbClr val="FFFFFF"/>
                          </a:solidFill>
                        </a:rPr>
                        <a:t>Root cause → fix</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1726"/>
                    </a:solidFill>
                  </a:tcPr>
                </a:tc>
              </a:tr>
              <a:tr h="594360">
                <a:tc>
                  <a:txBody>
                    <a:bodyPr/>
                    <a:lstStyle/>
                    <a:p>
                      <a:pPr indent="0" marL="0">
                        <a:buNone/>
                      </a:pPr>
                      <a:r>
                        <a:rPr lang="en-US" sz="1000" b="1" dirty="0">
                          <a:solidFill>
                            <a:srgbClr val="0E1726"/>
                          </a:solidFill>
                        </a:rPr>
                        <a:t>Pod ErrImagePull → ImagePullBackOff, 0/1</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000" dirty="0">
                          <a:solidFill>
                            <a:srgbClr val="4A5568"/>
                          </a:solidFill>
                        </a:rPr>
                        <a:t>describe pod → events: manifest unknown from ghcr.io; logs empty</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000" dirty="0">
                          <a:solidFill>
                            <a:srgbClr val="4A5568"/>
                          </a:solidFill>
                        </a:rPr>
                        <a:t>Tag does-not-exist is not in the registry → kubectl set image …:sha-da417a0</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4F8"/>
                    </a:solidFill>
                  </a:tcPr>
                </a:tc>
              </a:tr>
              <a:tr h="594360">
                <a:tc>
                  <a:txBody>
                    <a:bodyPr/>
                    <a:lstStyle/>
                    <a:p>
                      <a:pPr indent="0" marL="0">
                        <a:buNone/>
                      </a:pPr>
                      <a:r>
                        <a:rPr lang="en-US" sz="1000" b="1" dirty="0">
                          <a:solidFill>
                            <a:srgbClr val="0E1726"/>
                          </a:solidFill>
                        </a:rPr>
                        <a:t>curl http://broken-service:8080 from a pod → exit 000</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000" dirty="0">
                          <a:solidFill>
                            <a:srgbClr val="4A5568"/>
                          </a:solidFill>
                        </a:rPr>
                        <a:t>get endpointslices → none; describe svc → selector app=label-that-does-not-exist</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000" dirty="0">
                          <a:solidFill>
                            <a:srgbClr val="4A5568"/>
                          </a:solidFill>
                        </a:rPr>
                        <a:t>Selector matches no pod → patch the selector; endpoints appear</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4F8"/>
                    </a:solidFill>
                  </a:tcPr>
                </a:tc>
              </a:tr>
              <a:tr h="685800">
                <a:tc>
                  <a:txBody>
                    <a:bodyPr/>
                    <a:lstStyle/>
                    <a:p>
                      <a:pPr indent="0" marL="0">
                        <a:buNone/>
                      </a:pPr>
                      <a:r>
                        <a:rPr lang="en-US" sz="1000" b="1" dirty="0">
                          <a:solidFill>
                            <a:srgbClr val="0E1726"/>
                          </a:solidFill>
                        </a:rPr>
                        <a:t>Pod Running but 0/1, never Ready, no restarts</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000" dirty="0">
                          <a:solidFill>
                            <a:srgbClr val="4A5568"/>
                          </a:solidFill>
                        </a:rPr>
                        <a:t>describe → Readiness probe failed: 503; /health 200 but /ready says database down; env DATABASE_URL host no-such-db</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000" dirty="0">
                          <a:solidFill>
                            <a:srgbClr val="4A5568"/>
                          </a:solidFill>
                        </a:rPr>
                        <a:t>Wrong DB host in ConfigMap → fix the value, rollout restart</a:t>
                      </a:r>
                      <a:endParaRPr lang="en-US" sz="10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4F8"/>
                    </a:solidFill>
                  </a:tcPr>
                </a:tc>
              </a:tr>
            </a:tbl>
          </a:graphicData>
        </a:graphic>
      </p:graphicFrame>
      <p:sp>
        <p:nvSpPr>
          <p:cNvPr id="4" name="method"/>
          <p:cNvSpPr txBox="1"/>
          <p:nvPr/>
        </p:nvSpPr>
        <p:spPr>
          <a:xfrm>
            <a:off x="457200" y="3429000"/>
            <a:ext cx="8229600" cy="1097280"/>
          </a:xfrm>
          <a:prstGeom prst="rect">
            <a:avLst/>
          </a:prstGeom>
          <a:noFill/>
          <a:ln/>
        </p:spPr>
        <p:txBody>
          <a:bodyPr wrap="square" lIns="0" tIns="0" rIns="0" bIns="0" rtlCol="0" anchor="t"/>
          <a:lstStyle/>
          <a:p>
            <a:pPr indent="0" marL="0">
              <a:buNone/>
            </a:pPr>
            <a:r>
              <a:rPr lang="en-US" sz="1200" b="1" dirty="0">
                <a:solidFill>
                  <a:schemeClr val="tx1"/>
                </a:solidFill>
              </a:rPr>
              <a:t>get → describe (events) → logs → exec → find the root cause → change one thing → verify.  </a:t>
            </a:r>
            <a:pPr indent="0" marL="0">
              <a:buNone/>
            </a:pPr>
            <a:r>
              <a:rPr lang="en-US" sz="1200" dirty="0">
                <a:solidFill>
                  <a:schemeClr val="tx2"/>
                </a:solidFill>
              </a:rPr>
              <a:t>Scenario 3 taught me most: a pod can be alive and useless at the same time, and the Service correctly ignores it because readiness checks the database, not just the process.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What I understood</a:t>
            </a:r>
            <a:endParaRPr lang="en-US" sz="2600" dirty="0"/>
          </a:p>
        </p:txBody>
      </p:sp>
      <p:sp>
        <p:nvSpPr>
          <p:cNvPr id="3" name="lesson card 1"/>
          <p:cNvSpPr/>
          <p:nvPr/>
        </p:nvSpPr>
        <p:spPr>
          <a:xfrm>
            <a:off x="457200" y="1097280"/>
            <a:ext cx="2651760" cy="1645920"/>
          </a:xfrm>
          <a:prstGeom prst="roundRect">
            <a:avLst>
              <a:gd name="adj" fmla="val 4444"/>
            </a:avLst>
          </a:prstGeom>
          <a:solidFill>
            <a:schemeClr val="bg2"/>
          </a:solidFill>
          <a:ln w="12700">
            <a:solidFill>
              <a:srgbClr val="F1F4F8"/>
            </a:solidFill>
            <a:prstDash val="solid"/>
          </a:ln>
        </p:spPr>
      </p:sp>
      <p:sp>
        <p:nvSpPr>
          <p:cNvPr id="4" name="tag 1"/>
          <p:cNvSpPr/>
          <p:nvPr/>
        </p:nvSpPr>
        <p:spPr>
          <a:xfrm>
            <a:off x="594360" y="1234440"/>
            <a:ext cx="329184" cy="329184"/>
          </a:xfrm>
          <a:prstGeom prst="ellipse">
            <a:avLst/>
          </a:prstGeom>
          <a:solidFill>
            <a:srgbClr val="D9534F"/>
          </a:solidFill>
          <a:ln w="12700">
            <a:solidFill>
              <a:srgbClr val="D9534F"/>
            </a:solidFill>
            <a:prstDash val="solid"/>
          </a:ln>
        </p:spPr>
      </p:sp>
      <p:sp>
        <p:nvSpPr>
          <p:cNvPr id="5" name="tag label 1"/>
          <p:cNvSpPr txBox="1"/>
          <p:nvPr/>
        </p:nvSpPr>
        <p:spPr>
          <a:xfrm>
            <a:off x="594360" y="1234440"/>
            <a:ext cx="329184" cy="329184"/>
          </a:xfrm>
          <a:prstGeom prst="rect">
            <a:avLst/>
          </a:prstGeom>
          <a:noFill/>
          <a:ln/>
        </p:spPr>
        <p:txBody>
          <a:bodyPr wrap="square" lIns="0" tIns="0" rIns="0" bIns="0" rtlCol="0" anchor="ctr"/>
          <a:lstStyle/>
          <a:p>
            <a:pPr algn="ctr" indent="0" marL="0">
              <a:buNone/>
            </a:pPr>
            <a:r>
              <a:rPr lang="en-US" sz="900" b="1" dirty="0">
                <a:solidFill>
                  <a:schemeClr val="bg1"/>
                </a:solidFill>
              </a:rPr>
              <a:t>1</a:t>
            </a:r>
            <a:endParaRPr lang="en-US" sz="900" dirty="0"/>
          </a:p>
        </p:txBody>
      </p:sp>
      <p:sp>
        <p:nvSpPr>
          <p:cNvPr id="6" name="lesson title 1"/>
          <p:cNvSpPr txBox="1"/>
          <p:nvPr/>
        </p:nvSpPr>
        <p:spPr>
          <a:xfrm>
            <a:off x="1024128" y="1207008"/>
            <a:ext cx="1965960" cy="566928"/>
          </a:xfrm>
          <a:prstGeom prst="rect">
            <a:avLst/>
          </a:prstGeom>
          <a:noFill/>
          <a:ln/>
        </p:spPr>
        <p:txBody>
          <a:bodyPr wrap="square" lIns="0" tIns="0" rIns="0" bIns="0" rtlCol="0" anchor="ctr"/>
          <a:lstStyle/>
          <a:p>
            <a:pPr indent="0" marL="0">
              <a:buNone/>
            </a:pPr>
            <a:r>
              <a:rPr lang="en-US" sz="1250" b="1" dirty="0">
                <a:solidFill>
                  <a:schemeClr val="tx1"/>
                </a:solidFill>
              </a:rPr>
              <a:t>Gates only matter if they can say no</a:t>
            </a:r>
            <a:endParaRPr lang="en-US" sz="1250" dirty="0"/>
          </a:p>
        </p:txBody>
      </p:sp>
      <p:sp>
        <p:nvSpPr>
          <p:cNvPr id="7" name="lesson body 1"/>
          <p:cNvSpPr txBox="1"/>
          <p:nvPr/>
        </p:nvSpPr>
        <p:spPr>
          <a:xfrm>
            <a:off x="594360" y="1847088"/>
            <a:ext cx="2377440" cy="822960"/>
          </a:xfrm>
          <a:prstGeom prst="rect">
            <a:avLst/>
          </a:prstGeom>
          <a:noFill/>
          <a:ln/>
        </p:spPr>
        <p:txBody>
          <a:bodyPr wrap="square" lIns="0" tIns="0" rIns="0" bIns="0" rtlCol="0" anchor="t"/>
          <a:lstStyle/>
          <a:p>
            <a:pPr indent="0" marL="0">
              <a:buNone/>
            </a:pPr>
            <a:r>
              <a:rPr lang="en-US" sz="1050" dirty="0">
                <a:solidFill>
                  <a:schemeClr val="tx2"/>
                </a:solidFill>
              </a:rPr>
              <a:t>SCA and Trivy each blocked a run; the fix was an upgrade, not an ignore.</a:t>
            </a:r>
            <a:endParaRPr lang="en-US" sz="1050" dirty="0"/>
          </a:p>
        </p:txBody>
      </p:sp>
      <p:sp>
        <p:nvSpPr>
          <p:cNvPr id="8" name="lesson card 2"/>
          <p:cNvSpPr/>
          <p:nvPr/>
        </p:nvSpPr>
        <p:spPr>
          <a:xfrm>
            <a:off x="3246120" y="1097280"/>
            <a:ext cx="2651760" cy="1645920"/>
          </a:xfrm>
          <a:prstGeom prst="roundRect">
            <a:avLst>
              <a:gd name="adj" fmla="val 4444"/>
            </a:avLst>
          </a:prstGeom>
          <a:solidFill>
            <a:schemeClr val="bg2"/>
          </a:solidFill>
          <a:ln w="12700">
            <a:solidFill>
              <a:srgbClr val="F1F4F8"/>
            </a:solidFill>
            <a:prstDash val="solid"/>
          </a:ln>
        </p:spPr>
      </p:sp>
      <p:sp>
        <p:nvSpPr>
          <p:cNvPr id="9" name="tag 2"/>
          <p:cNvSpPr/>
          <p:nvPr/>
        </p:nvSpPr>
        <p:spPr>
          <a:xfrm>
            <a:off x="3383280" y="1234440"/>
            <a:ext cx="329184" cy="329184"/>
          </a:xfrm>
          <a:prstGeom prst="ellipse">
            <a:avLst/>
          </a:prstGeom>
          <a:solidFill>
            <a:srgbClr val="1FA68F"/>
          </a:solidFill>
          <a:ln w="12700">
            <a:solidFill>
              <a:srgbClr val="1FA68F"/>
            </a:solidFill>
            <a:prstDash val="solid"/>
          </a:ln>
        </p:spPr>
      </p:sp>
      <p:sp>
        <p:nvSpPr>
          <p:cNvPr id="10" name="tag label 2"/>
          <p:cNvSpPr txBox="1"/>
          <p:nvPr/>
        </p:nvSpPr>
        <p:spPr>
          <a:xfrm>
            <a:off x="3383280" y="1234440"/>
            <a:ext cx="329184" cy="329184"/>
          </a:xfrm>
          <a:prstGeom prst="rect">
            <a:avLst/>
          </a:prstGeom>
          <a:noFill/>
          <a:ln/>
        </p:spPr>
        <p:txBody>
          <a:bodyPr wrap="square" lIns="0" tIns="0" rIns="0" bIns="0" rtlCol="0" anchor="ctr"/>
          <a:lstStyle/>
          <a:p>
            <a:pPr algn="ctr" indent="0" marL="0">
              <a:buNone/>
            </a:pPr>
            <a:r>
              <a:rPr lang="en-US" sz="900" b="1" dirty="0">
                <a:solidFill>
                  <a:schemeClr val="bg1"/>
                </a:solidFill>
              </a:rPr>
              <a:t>2</a:t>
            </a:r>
            <a:endParaRPr lang="en-US" sz="900" dirty="0"/>
          </a:p>
        </p:txBody>
      </p:sp>
      <p:sp>
        <p:nvSpPr>
          <p:cNvPr id="11" name="lesson title 2"/>
          <p:cNvSpPr txBox="1"/>
          <p:nvPr/>
        </p:nvSpPr>
        <p:spPr>
          <a:xfrm>
            <a:off x="3813048" y="1207008"/>
            <a:ext cx="1965960" cy="566928"/>
          </a:xfrm>
          <a:prstGeom prst="rect">
            <a:avLst/>
          </a:prstGeom>
          <a:noFill/>
          <a:ln/>
        </p:spPr>
        <p:txBody>
          <a:bodyPr wrap="square" lIns="0" tIns="0" rIns="0" bIns="0" rtlCol="0" anchor="ctr"/>
          <a:lstStyle/>
          <a:p>
            <a:pPr indent="0" marL="0">
              <a:buNone/>
            </a:pPr>
            <a:r>
              <a:rPr lang="en-US" sz="1250" b="1" dirty="0">
                <a:solidFill>
                  <a:schemeClr val="tx1"/>
                </a:solidFill>
              </a:rPr>
              <a:t>CI builds, GitOps deploys</a:t>
            </a:r>
            <a:endParaRPr lang="en-US" sz="1250" dirty="0"/>
          </a:p>
        </p:txBody>
      </p:sp>
      <p:sp>
        <p:nvSpPr>
          <p:cNvPr id="12" name="lesson body 2"/>
          <p:cNvSpPr txBox="1"/>
          <p:nvPr/>
        </p:nvSpPr>
        <p:spPr>
          <a:xfrm>
            <a:off x="3383280" y="1847088"/>
            <a:ext cx="2377440" cy="822960"/>
          </a:xfrm>
          <a:prstGeom prst="rect">
            <a:avLst/>
          </a:prstGeom>
          <a:noFill/>
          <a:ln/>
        </p:spPr>
        <p:txBody>
          <a:bodyPr wrap="square" lIns="0" tIns="0" rIns="0" bIns="0" rtlCol="0" anchor="t"/>
          <a:lstStyle/>
          <a:p>
            <a:pPr indent="0" marL="0">
              <a:buNone/>
            </a:pPr>
            <a:r>
              <a:rPr lang="en-US" sz="1050" dirty="0">
                <a:solidFill>
                  <a:schemeClr val="tx2"/>
                </a:solidFill>
              </a:rPr>
              <a:t>The runner never holds a kubeconfig. One line in git; Argo CD applies, heals drift, prunes.</a:t>
            </a:r>
            <a:endParaRPr lang="en-US" sz="1050" dirty="0"/>
          </a:p>
        </p:txBody>
      </p:sp>
      <p:sp>
        <p:nvSpPr>
          <p:cNvPr id="13" name="lesson card 3"/>
          <p:cNvSpPr/>
          <p:nvPr/>
        </p:nvSpPr>
        <p:spPr>
          <a:xfrm>
            <a:off x="6035040" y="1097280"/>
            <a:ext cx="2651760" cy="1645920"/>
          </a:xfrm>
          <a:prstGeom prst="roundRect">
            <a:avLst>
              <a:gd name="adj" fmla="val 4444"/>
            </a:avLst>
          </a:prstGeom>
          <a:solidFill>
            <a:schemeClr val="bg2"/>
          </a:solidFill>
          <a:ln w="12700">
            <a:solidFill>
              <a:srgbClr val="F1F4F8"/>
            </a:solidFill>
            <a:prstDash val="solid"/>
          </a:ln>
        </p:spPr>
      </p:sp>
      <p:sp>
        <p:nvSpPr>
          <p:cNvPr id="14" name="tag 3"/>
          <p:cNvSpPr/>
          <p:nvPr/>
        </p:nvSpPr>
        <p:spPr>
          <a:xfrm>
            <a:off x="6172200" y="1234440"/>
            <a:ext cx="329184" cy="329184"/>
          </a:xfrm>
          <a:prstGeom prst="ellipse">
            <a:avLst/>
          </a:prstGeom>
          <a:solidFill>
            <a:srgbClr val="3B6EA5"/>
          </a:solidFill>
          <a:ln w="12700">
            <a:solidFill>
              <a:srgbClr val="3B6EA5"/>
            </a:solidFill>
            <a:prstDash val="solid"/>
          </a:ln>
        </p:spPr>
      </p:sp>
      <p:sp>
        <p:nvSpPr>
          <p:cNvPr id="15" name="tag label 3"/>
          <p:cNvSpPr txBox="1"/>
          <p:nvPr/>
        </p:nvSpPr>
        <p:spPr>
          <a:xfrm>
            <a:off x="6172200" y="1234440"/>
            <a:ext cx="329184" cy="329184"/>
          </a:xfrm>
          <a:prstGeom prst="rect">
            <a:avLst/>
          </a:prstGeom>
          <a:noFill/>
          <a:ln/>
        </p:spPr>
        <p:txBody>
          <a:bodyPr wrap="square" lIns="0" tIns="0" rIns="0" bIns="0" rtlCol="0" anchor="ctr"/>
          <a:lstStyle/>
          <a:p>
            <a:pPr algn="ctr" indent="0" marL="0">
              <a:buNone/>
            </a:pPr>
            <a:r>
              <a:rPr lang="en-US" sz="900" b="1" dirty="0">
                <a:solidFill>
                  <a:schemeClr val="bg1"/>
                </a:solidFill>
              </a:rPr>
              <a:t>3</a:t>
            </a:r>
            <a:endParaRPr lang="en-US" sz="900" dirty="0"/>
          </a:p>
        </p:txBody>
      </p:sp>
      <p:sp>
        <p:nvSpPr>
          <p:cNvPr id="16" name="lesson title 3"/>
          <p:cNvSpPr txBox="1"/>
          <p:nvPr/>
        </p:nvSpPr>
        <p:spPr>
          <a:xfrm>
            <a:off x="6601968" y="1207008"/>
            <a:ext cx="1965960" cy="566928"/>
          </a:xfrm>
          <a:prstGeom prst="rect">
            <a:avLst/>
          </a:prstGeom>
          <a:noFill/>
          <a:ln/>
        </p:spPr>
        <p:txBody>
          <a:bodyPr wrap="square" lIns="0" tIns="0" rIns="0" bIns="0" rtlCol="0" anchor="ctr"/>
          <a:lstStyle/>
          <a:p>
            <a:pPr indent="0" marL="0">
              <a:buNone/>
            </a:pPr>
            <a:r>
              <a:rPr lang="en-US" sz="1250" b="1" dirty="0">
                <a:solidFill>
                  <a:schemeClr val="tx1"/>
                </a:solidFill>
              </a:rPr>
              <a:t>Readiness ≠ liveness</a:t>
            </a:r>
            <a:endParaRPr lang="en-US" sz="1250" dirty="0"/>
          </a:p>
        </p:txBody>
      </p:sp>
      <p:sp>
        <p:nvSpPr>
          <p:cNvPr id="17" name="lesson body 3"/>
          <p:cNvSpPr txBox="1"/>
          <p:nvPr/>
        </p:nvSpPr>
        <p:spPr>
          <a:xfrm>
            <a:off x="6172200" y="1847088"/>
            <a:ext cx="2377440" cy="822960"/>
          </a:xfrm>
          <a:prstGeom prst="rect">
            <a:avLst/>
          </a:prstGeom>
          <a:noFill/>
          <a:ln/>
        </p:spPr>
        <p:txBody>
          <a:bodyPr wrap="square" lIns="0" tIns="0" rIns="0" bIns="0" rtlCol="0" anchor="t"/>
          <a:lstStyle/>
          <a:p>
            <a:pPr indent="0" marL="0">
              <a:buNone/>
            </a:pPr>
            <a:r>
              <a:rPr lang="en-US" sz="1050" dirty="0">
                <a:solidFill>
                  <a:schemeClr val="tx2"/>
                </a:solidFill>
              </a:rPr>
              <a:t>/health = restart me? /ready = send me traffic? Scenario 3 is a pod that is alive and useless.</a:t>
            </a:r>
            <a:endParaRPr lang="en-US" sz="1050" dirty="0"/>
          </a:p>
        </p:txBody>
      </p:sp>
      <p:sp>
        <p:nvSpPr>
          <p:cNvPr id="18" name="lesson card 4"/>
          <p:cNvSpPr/>
          <p:nvPr/>
        </p:nvSpPr>
        <p:spPr>
          <a:xfrm>
            <a:off x="457200" y="2880360"/>
            <a:ext cx="2651760" cy="1645920"/>
          </a:xfrm>
          <a:prstGeom prst="roundRect">
            <a:avLst>
              <a:gd name="adj" fmla="val 4444"/>
            </a:avLst>
          </a:prstGeom>
          <a:solidFill>
            <a:schemeClr val="bg2"/>
          </a:solidFill>
          <a:ln w="12700">
            <a:solidFill>
              <a:srgbClr val="F1F4F8"/>
            </a:solidFill>
            <a:prstDash val="solid"/>
          </a:ln>
        </p:spPr>
      </p:sp>
      <p:sp>
        <p:nvSpPr>
          <p:cNvPr id="19" name="tag 4"/>
          <p:cNvSpPr/>
          <p:nvPr/>
        </p:nvSpPr>
        <p:spPr>
          <a:xfrm>
            <a:off x="594360" y="3017520"/>
            <a:ext cx="329184" cy="329184"/>
          </a:xfrm>
          <a:prstGeom prst="ellipse">
            <a:avLst/>
          </a:prstGeom>
          <a:solidFill>
            <a:srgbClr val="E59F2B"/>
          </a:solidFill>
          <a:ln w="12700">
            <a:solidFill>
              <a:srgbClr val="E59F2B"/>
            </a:solidFill>
            <a:prstDash val="solid"/>
          </a:ln>
        </p:spPr>
      </p:sp>
      <p:sp>
        <p:nvSpPr>
          <p:cNvPr id="20" name="tag label 4"/>
          <p:cNvSpPr txBox="1"/>
          <p:nvPr/>
        </p:nvSpPr>
        <p:spPr>
          <a:xfrm>
            <a:off x="594360" y="3017520"/>
            <a:ext cx="329184" cy="329184"/>
          </a:xfrm>
          <a:prstGeom prst="rect">
            <a:avLst/>
          </a:prstGeom>
          <a:noFill/>
          <a:ln/>
        </p:spPr>
        <p:txBody>
          <a:bodyPr wrap="square" lIns="0" tIns="0" rIns="0" bIns="0" rtlCol="0" anchor="ctr"/>
          <a:lstStyle/>
          <a:p>
            <a:pPr algn="ctr" indent="0" marL="0">
              <a:buNone/>
            </a:pPr>
            <a:r>
              <a:rPr lang="en-US" sz="900" b="1" dirty="0">
                <a:solidFill>
                  <a:schemeClr val="bg1"/>
                </a:solidFill>
              </a:rPr>
              <a:t>4</a:t>
            </a:r>
            <a:endParaRPr lang="en-US" sz="900" dirty="0"/>
          </a:p>
        </p:txBody>
      </p:sp>
      <p:sp>
        <p:nvSpPr>
          <p:cNvPr id="21" name="lesson title 4"/>
          <p:cNvSpPr txBox="1"/>
          <p:nvPr/>
        </p:nvSpPr>
        <p:spPr>
          <a:xfrm>
            <a:off x="1024128" y="2990088"/>
            <a:ext cx="1965960" cy="566928"/>
          </a:xfrm>
          <a:prstGeom prst="rect">
            <a:avLst/>
          </a:prstGeom>
          <a:noFill/>
          <a:ln/>
        </p:spPr>
        <p:txBody>
          <a:bodyPr wrap="square" lIns="0" tIns="0" rIns="0" bIns="0" rtlCol="0" anchor="ctr"/>
          <a:lstStyle/>
          <a:p>
            <a:pPr indent="0" marL="0">
              <a:buNone/>
            </a:pPr>
            <a:r>
              <a:rPr lang="en-US" sz="1250" b="1" dirty="0">
                <a:solidFill>
                  <a:schemeClr val="tx1"/>
                </a:solidFill>
              </a:rPr>
              <a:t>Tags are deployments</a:t>
            </a:r>
            <a:endParaRPr lang="en-US" sz="1250" dirty="0"/>
          </a:p>
        </p:txBody>
      </p:sp>
      <p:sp>
        <p:nvSpPr>
          <p:cNvPr id="22" name="lesson body 4"/>
          <p:cNvSpPr txBox="1"/>
          <p:nvPr/>
        </p:nvSpPr>
        <p:spPr>
          <a:xfrm>
            <a:off x="594360" y="3630168"/>
            <a:ext cx="2377440" cy="822960"/>
          </a:xfrm>
          <a:prstGeom prst="rect">
            <a:avLst/>
          </a:prstGeom>
          <a:noFill/>
          <a:ln/>
        </p:spPr>
        <p:txBody>
          <a:bodyPr wrap="square" lIns="0" tIns="0" rIns="0" bIns="0" rtlCol="0" anchor="t"/>
          <a:lstStyle/>
          <a:p>
            <a:pPr indent="0" marL="0">
              <a:buNone/>
            </a:pPr>
            <a:r>
              <a:rPr lang="en-US" sz="1050" dirty="0">
                <a:solidFill>
                  <a:schemeClr val="tx2"/>
                </a:solidFill>
              </a:rPr>
              <a:t>latest says nothing; sha-ada2a45 says which commit is running – HPA, Argo and rollouts become reproducible.</a:t>
            </a:r>
            <a:endParaRPr lang="en-US" sz="1050" dirty="0"/>
          </a:p>
        </p:txBody>
      </p:sp>
      <p:sp>
        <p:nvSpPr>
          <p:cNvPr id="23" name="lesson card 5"/>
          <p:cNvSpPr/>
          <p:nvPr/>
        </p:nvSpPr>
        <p:spPr>
          <a:xfrm>
            <a:off x="3246120" y="2880360"/>
            <a:ext cx="2651760" cy="1645920"/>
          </a:xfrm>
          <a:prstGeom prst="roundRect">
            <a:avLst>
              <a:gd name="adj" fmla="val 4444"/>
            </a:avLst>
          </a:prstGeom>
          <a:solidFill>
            <a:schemeClr val="bg2"/>
          </a:solidFill>
          <a:ln w="12700">
            <a:solidFill>
              <a:srgbClr val="F1F4F8"/>
            </a:solidFill>
            <a:prstDash val="solid"/>
          </a:ln>
        </p:spPr>
      </p:sp>
      <p:sp>
        <p:nvSpPr>
          <p:cNvPr id="24" name="tag 5"/>
          <p:cNvSpPr/>
          <p:nvPr/>
        </p:nvSpPr>
        <p:spPr>
          <a:xfrm>
            <a:off x="3383280" y="3017520"/>
            <a:ext cx="329184" cy="329184"/>
          </a:xfrm>
          <a:prstGeom prst="ellipse">
            <a:avLst/>
          </a:prstGeom>
          <a:solidFill>
            <a:srgbClr val="8C6BBF"/>
          </a:solidFill>
          <a:ln w="12700">
            <a:solidFill>
              <a:srgbClr val="8C6BBF"/>
            </a:solidFill>
            <a:prstDash val="solid"/>
          </a:ln>
        </p:spPr>
      </p:sp>
      <p:sp>
        <p:nvSpPr>
          <p:cNvPr id="25" name="tag label 5"/>
          <p:cNvSpPr txBox="1"/>
          <p:nvPr/>
        </p:nvSpPr>
        <p:spPr>
          <a:xfrm>
            <a:off x="3383280" y="3017520"/>
            <a:ext cx="329184" cy="329184"/>
          </a:xfrm>
          <a:prstGeom prst="rect">
            <a:avLst/>
          </a:prstGeom>
          <a:noFill/>
          <a:ln/>
        </p:spPr>
        <p:txBody>
          <a:bodyPr wrap="square" lIns="0" tIns="0" rIns="0" bIns="0" rtlCol="0" anchor="ctr"/>
          <a:lstStyle/>
          <a:p>
            <a:pPr algn="ctr" indent="0" marL="0">
              <a:buNone/>
            </a:pPr>
            <a:r>
              <a:rPr lang="en-US" sz="900" b="1" dirty="0">
                <a:solidFill>
                  <a:schemeClr val="bg1"/>
                </a:solidFill>
              </a:rPr>
              <a:t>5</a:t>
            </a:r>
            <a:endParaRPr lang="en-US" sz="900" dirty="0"/>
          </a:p>
        </p:txBody>
      </p:sp>
      <p:sp>
        <p:nvSpPr>
          <p:cNvPr id="26" name="lesson title 5"/>
          <p:cNvSpPr txBox="1"/>
          <p:nvPr/>
        </p:nvSpPr>
        <p:spPr>
          <a:xfrm>
            <a:off x="3813048" y="2990088"/>
            <a:ext cx="1965960" cy="566928"/>
          </a:xfrm>
          <a:prstGeom prst="rect">
            <a:avLst/>
          </a:prstGeom>
          <a:noFill/>
          <a:ln/>
        </p:spPr>
        <p:txBody>
          <a:bodyPr wrap="square" lIns="0" tIns="0" rIns="0" bIns="0" rtlCol="0" anchor="ctr"/>
          <a:lstStyle/>
          <a:p>
            <a:pPr indent="0" marL="0">
              <a:buNone/>
            </a:pPr>
            <a:r>
              <a:rPr lang="en-US" sz="1250" b="1" dirty="0">
                <a:solidFill>
                  <a:schemeClr val="tx1"/>
                </a:solidFill>
              </a:rPr>
              <a:t>Non-root and multi-arch are not details</a:t>
            </a:r>
            <a:endParaRPr lang="en-US" sz="1250" dirty="0"/>
          </a:p>
        </p:txBody>
      </p:sp>
      <p:sp>
        <p:nvSpPr>
          <p:cNvPr id="27" name="lesson body 5"/>
          <p:cNvSpPr txBox="1"/>
          <p:nvPr/>
        </p:nvSpPr>
        <p:spPr>
          <a:xfrm>
            <a:off x="3383280" y="3630168"/>
            <a:ext cx="2377440" cy="822960"/>
          </a:xfrm>
          <a:prstGeom prst="rect">
            <a:avLst/>
          </a:prstGeom>
          <a:noFill/>
          <a:ln/>
        </p:spPr>
        <p:txBody>
          <a:bodyPr wrap="square" lIns="0" tIns="0" rIns="0" bIns="0" rtlCol="0" anchor="t"/>
          <a:lstStyle/>
          <a:p>
            <a:pPr indent="0" marL="0">
              <a:buNone/>
            </a:pPr>
            <a:r>
              <a:rPr lang="en-US" sz="1050" dirty="0">
                <a:solidFill>
                  <a:schemeClr val="tx2"/>
                </a:solidFill>
              </a:rPr>
              <a:t>uid 10001 / 101, nginx on 8080; amd64 runner, arm64 nodes.</a:t>
            </a:r>
            <a:endParaRPr lang="en-US" sz="1050" dirty="0"/>
          </a:p>
        </p:txBody>
      </p:sp>
      <p:sp>
        <p:nvSpPr>
          <p:cNvPr id="28" name="lesson card 6"/>
          <p:cNvSpPr/>
          <p:nvPr/>
        </p:nvSpPr>
        <p:spPr>
          <a:xfrm>
            <a:off x="6035040" y="2880360"/>
            <a:ext cx="2651760" cy="1645920"/>
          </a:xfrm>
          <a:prstGeom prst="roundRect">
            <a:avLst>
              <a:gd name="adj" fmla="val 4444"/>
            </a:avLst>
          </a:prstGeom>
          <a:solidFill>
            <a:schemeClr val="bg2"/>
          </a:solidFill>
          <a:ln w="12700">
            <a:solidFill>
              <a:srgbClr val="F1F4F8"/>
            </a:solidFill>
            <a:prstDash val="solid"/>
          </a:ln>
        </p:spPr>
      </p:sp>
      <p:sp>
        <p:nvSpPr>
          <p:cNvPr id="29" name="tag 6"/>
          <p:cNvSpPr/>
          <p:nvPr/>
        </p:nvSpPr>
        <p:spPr>
          <a:xfrm>
            <a:off x="6172200" y="3017520"/>
            <a:ext cx="329184" cy="329184"/>
          </a:xfrm>
          <a:prstGeom prst="ellipse">
            <a:avLst/>
          </a:prstGeom>
          <a:solidFill>
            <a:srgbClr val="6B7A8F"/>
          </a:solidFill>
          <a:ln w="12700">
            <a:solidFill>
              <a:srgbClr val="6B7A8F"/>
            </a:solidFill>
            <a:prstDash val="solid"/>
          </a:ln>
        </p:spPr>
      </p:sp>
      <p:sp>
        <p:nvSpPr>
          <p:cNvPr id="30" name="tag label 6"/>
          <p:cNvSpPr txBox="1"/>
          <p:nvPr/>
        </p:nvSpPr>
        <p:spPr>
          <a:xfrm>
            <a:off x="6172200" y="3017520"/>
            <a:ext cx="329184" cy="329184"/>
          </a:xfrm>
          <a:prstGeom prst="rect">
            <a:avLst/>
          </a:prstGeom>
          <a:noFill/>
          <a:ln/>
        </p:spPr>
        <p:txBody>
          <a:bodyPr wrap="square" lIns="0" tIns="0" rIns="0" bIns="0" rtlCol="0" anchor="ctr"/>
          <a:lstStyle/>
          <a:p>
            <a:pPr algn="ctr" indent="0" marL="0">
              <a:buNone/>
            </a:pPr>
            <a:r>
              <a:rPr lang="en-US" sz="900" b="1" dirty="0">
                <a:solidFill>
                  <a:schemeClr val="bg1"/>
                </a:solidFill>
              </a:rPr>
              <a:t>6</a:t>
            </a:r>
            <a:endParaRPr lang="en-US" sz="900" dirty="0"/>
          </a:p>
        </p:txBody>
      </p:sp>
      <p:sp>
        <p:nvSpPr>
          <p:cNvPr id="31" name="lesson title 6"/>
          <p:cNvSpPr txBox="1"/>
          <p:nvPr/>
        </p:nvSpPr>
        <p:spPr>
          <a:xfrm>
            <a:off x="6601968" y="2990088"/>
            <a:ext cx="1965960" cy="566928"/>
          </a:xfrm>
          <a:prstGeom prst="rect">
            <a:avLst/>
          </a:prstGeom>
          <a:noFill/>
          <a:ln/>
        </p:spPr>
        <p:txBody>
          <a:bodyPr wrap="square" lIns="0" tIns="0" rIns="0" bIns="0" rtlCol="0" anchor="ctr"/>
          <a:lstStyle/>
          <a:p>
            <a:pPr indent="0" marL="0">
              <a:buNone/>
            </a:pPr>
            <a:r>
              <a:rPr lang="en-US" sz="1250" b="1" dirty="0">
                <a:solidFill>
                  <a:schemeClr val="tx1"/>
                </a:solidFill>
              </a:rPr>
              <a:t>Portable infra is testable infra</a:t>
            </a:r>
            <a:endParaRPr lang="en-US" sz="1250" dirty="0"/>
          </a:p>
        </p:txBody>
      </p:sp>
      <p:sp>
        <p:nvSpPr>
          <p:cNvPr id="32" name="lesson body 6"/>
          <p:cNvSpPr txBox="1"/>
          <p:nvPr/>
        </p:nvSpPr>
        <p:spPr>
          <a:xfrm>
            <a:off x="6172200" y="3630168"/>
            <a:ext cx="2377440" cy="822960"/>
          </a:xfrm>
          <a:prstGeom prst="rect">
            <a:avLst/>
          </a:prstGeom>
          <a:noFill/>
          <a:ln/>
        </p:spPr>
        <p:txBody>
          <a:bodyPr wrap="square" lIns="0" tIns="0" rIns="0" bIns="0" rtlCol="0" anchor="t"/>
          <a:lstStyle/>
          <a:p>
            <a:pPr indent="0" marL="0">
              <a:buNone/>
            </a:pPr>
            <a:r>
              <a:rPr lang="en-US" sz="1050" dirty="0">
                <a:solidFill>
                  <a:schemeClr val="tx2"/>
                </a:solidFill>
              </a:rPr>
              <a:t>Same Terraform, one variable → LocalStack; EKS planned, not applied, and said so.</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56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bg1"/>
                </a:solidFill>
              </a:rPr>
              <a:t>Live demo – in this order</a:t>
            </a:r>
            <a:endParaRPr lang="en-US" sz="2600" dirty="0"/>
          </a:p>
        </p:txBody>
      </p:sp>
      <p:sp>
        <p:nvSpPr>
          <p:cNvPr id="3" name="tag 1"/>
          <p:cNvSpPr/>
          <p:nvPr/>
        </p:nvSpPr>
        <p:spPr>
          <a:xfrm>
            <a:off x="457200" y="1097280"/>
            <a:ext cx="384048" cy="384048"/>
          </a:xfrm>
          <a:prstGeom prst="ellipse">
            <a:avLst/>
          </a:prstGeom>
          <a:solidFill>
            <a:srgbClr val="E59F2B"/>
          </a:solidFill>
          <a:ln w="12700">
            <a:solidFill>
              <a:srgbClr val="E59F2B"/>
            </a:solidFill>
            <a:prstDash val="solid"/>
          </a:ln>
        </p:spPr>
      </p:sp>
      <p:sp>
        <p:nvSpPr>
          <p:cNvPr id="4" name="tag label 1"/>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5" name="demo title 1"/>
          <p:cNvSpPr txBox="1"/>
          <p:nvPr/>
        </p:nvSpPr>
        <p:spPr>
          <a:xfrm>
            <a:off x="960120" y="1097280"/>
            <a:ext cx="2148840" cy="384048"/>
          </a:xfrm>
          <a:prstGeom prst="rect">
            <a:avLst/>
          </a:prstGeom>
          <a:noFill/>
          <a:ln/>
        </p:spPr>
        <p:txBody>
          <a:bodyPr wrap="square" lIns="0" tIns="0" rIns="0" bIns="0" rtlCol="0" anchor="ctr"/>
          <a:lstStyle/>
          <a:p>
            <a:pPr indent="0" marL="0">
              <a:buNone/>
            </a:pPr>
            <a:r>
              <a:rPr lang="en-US" sz="1500" b="1" dirty="0">
                <a:solidFill>
                  <a:schemeClr val="bg1"/>
                </a:solidFill>
              </a:rPr>
              <a:t>App + API</a:t>
            </a:r>
            <a:endParaRPr lang="en-US" sz="1500" dirty="0"/>
          </a:p>
        </p:txBody>
      </p:sp>
      <p:sp>
        <p:nvSpPr>
          <p:cNvPr id="6" name="demo body 1"/>
          <p:cNvSpPr txBox="1"/>
          <p:nvPr/>
        </p:nvSpPr>
        <p:spPr>
          <a:xfrm>
            <a:off x="960120" y="1508760"/>
            <a:ext cx="2148840" cy="777240"/>
          </a:xfrm>
          <a:prstGeom prst="rect">
            <a:avLst/>
          </a:prstGeom>
          <a:noFill/>
          <a:ln/>
        </p:spPr>
        <p:txBody>
          <a:bodyPr wrap="square" lIns="0" tIns="0" rIns="0" bIns="0" rtlCol="0" anchor="t"/>
          <a:lstStyle/>
          <a:p>
            <a:pPr indent="0" marL="0">
              <a:buNone/>
            </a:pPr>
            <a:r>
              <a:rPr lang="en-US" sz="1050" dirty="0">
                <a:solidFill>
                  <a:schemeClr val="bg2"/>
                </a:solidFill>
              </a:rPr>
              <a:t>create an entry in the UI, CRUD it in Swagger, select it in psql</a:t>
            </a:r>
            <a:endParaRPr lang="en-US" sz="1050" dirty="0"/>
          </a:p>
        </p:txBody>
      </p:sp>
      <p:sp>
        <p:nvSpPr>
          <p:cNvPr id="7" name="tag 2"/>
          <p:cNvSpPr/>
          <p:nvPr/>
        </p:nvSpPr>
        <p:spPr>
          <a:xfrm>
            <a:off x="3246120" y="1097280"/>
            <a:ext cx="384048" cy="384048"/>
          </a:xfrm>
          <a:prstGeom prst="ellipse">
            <a:avLst/>
          </a:prstGeom>
          <a:solidFill>
            <a:srgbClr val="1FA68F"/>
          </a:solidFill>
          <a:ln w="12700">
            <a:solidFill>
              <a:srgbClr val="1FA68F"/>
            </a:solidFill>
            <a:prstDash val="solid"/>
          </a:ln>
        </p:spPr>
      </p:sp>
      <p:sp>
        <p:nvSpPr>
          <p:cNvPr id="8" name="tag label 2"/>
          <p:cNvSpPr txBox="1"/>
          <p:nvPr/>
        </p:nvSpPr>
        <p:spPr>
          <a:xfrm>
            <a:off x="3246120" y="109728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9" name="demo title 2"/>
          <p:cNvSpPr txBox="1"/>
          <p:nvPr/>
        </p:nvSpPr>
        <p:spPr>
          <a:xfrm>
            <a:off x="3749040" y="1097280"/>
            <a:ext cx="2148840" cy="384048"/>
          </a:xfrm>
          <a:prstGeom prst="rect">
            <a:avLst/>
          </a:prstGeom>
          <a:noFill/>
          <a:ln/>
        </p:spPr>
        <p:txBody>
          <a:bodyPr wrap="square" lIns="0" tIns="0" rIns="0" bIns="0" rtlCol="0" anchor="ctr"/>
          <a:lstStyle/>
          <a:p>
            <a:pPr indent="0" marL="0">
              <a:buNone/>
            </a:pPr>
            <a:r>
              <a:rPr lang="en-US" sz="1500" b="1" dirty="0">
                <a:solidFill>
                  <a:schemeClr val="bg1"/>
                </a:solidFill>
              </a:rPr>
              <a:t>Git → CI</a:t>
            </a:r>
            <a:endParaRPr lang="en-US" sz="1500" dirty="0"/>
          </a:p>
        </p:txBody>
      </p:sp>
      <p:sp>
        <p:nvSpPr>
          <p:cNvPr id="10" name="demo body 2"/>
          <p:cNvSpPr txBox="1"/>
          <p:nvPr/>
        </p:nvSpPr>
        <p:spPr>
          <a:xfrm>
            <a:off x="3749040" y="1508760"/>
            <a:ext cx="2148840" cy="777240"/>
          </a:xfrm>
          <a:prstGeom prst="rect">
            <a:avLst/>
          </a:prstGeom>
          <a:noFill/>
          <a:ln/>
        </p:spPr>
        <p:txBody>
          <a:bodyPr wrap="square" lIns="0" tIns="0" rIns="0" bIns="0" rtlCol="0" anchor="t"/>
          <a:lstStyle/>
          <a:p>
            <a:pPr indent="0" marL="0">
              <a:buNone/>
            </a:pPr>
            <a:r>
              <a:rPr lang="en-US" sz="1050" dirty="0">
                <a:solidFill>
                  <a:schemeClr val="bg2"/>
                </a:solidFill>
              </a:rPr>
              <a:t>small commit, push, watch the Actions run and the gates</a:t>
            </a:r>
            <a:endParaRPr lang="en-US" sz="1050" dirty="0"/>
          </a:p>
        </p:txBody>
      </p:sp>
      <p:sp>
        <p:nvSpPr>
          <p:cNvPr id="11" name="tag 3"/>
          <p:cNvSpPr/>
          <p:nvPr/>
        </p:nvSpPr>
        <p:spPr>
          <a:xfrm>
            <a:off x="6035040" y="1097280"/>
            <a:ext cx="384048" cy="384048"/>
          </a:xfrm>
          <a:prstGeom prst="ellipse">
            <a:avLst/>
          </a:prstGeom>
          <a:solidFill>
            <a:srgbClr val="E59F2B"/>
          </a:solidFill>
          <a:ln w="12700">
            <a:solidFill>
              <a:srgbClr val="E59F2B"/>
            </a:solidFill>
            <a:prstDash val="solid"/>
          </a:ln>
        </p:spPr>
      </p:sp>
      <p:sp>
        <p:nvSpPr>
          <p:cNvPr id="12" name="tag label 3"/>
          <p:cNvSpPr txBox="1"/>
          <p:nvPr/>
        </p:nvSpPr>
        <p:spPr>
          <a:xfrm>
            <a:off x="6035040" y="109728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3" name="demo title 3"/>
          <p:cNvSpPr txBox="1"/>
          <p:nvPr/>
        </p:nvSpPr>
        <p:spPr>
          <a:xfrm>
            <a:off x="6537960" y="1097280"/>
            <a:ext cx="2148840" cy="384048"/>
          </a:xfrm>
          <a:prstGeom prst="rect">
            <a:avLst/>
          </a:prstGeom>
          <a:noFill/>
          <a:ln/>
        </p:spPr>
        <p:txBody>
          <a:bodyPr wrap="square" lIns="0" tIns="0" rIns="0" bIns="0" rtlCol="0" anchor="ctr"/>
          <a:lstStyle/>
          <a:p>
            <a:pPr indent="0" marL="0">
              <a:buNone/>
            </a:pPr>
            <a:r>
              <a:rPr lang="en-US" sz="1500" b="1" dirty="0">
                <a:solidFill>
                  <a:schemeClr val="bg1"/>
                </a:solidFill>
              </a:rPr>
              <a:t>Images</a:t>
            </a:r>
            <a:endParaRPr lang="en-US" sz="1500" dirty="0"/>
          </a:p>
        </p:txBody>
      </p:sp>
      <p:sp>
        <p:nvSpPr>
          <p:cNvPr id="14" name="demo body 3"/>
          <p:cNvSpPr txBox="1"/>
          <p:nvPr/>
        </p:nvSpPr>
        <p:spPr>
          <a:xfrm>
            <a:off x="6537960" y="1508760"/>
            <a:ext cx="2148840" cy="777240"/>
          </a:xfrm>
          <a:prstGeom prst="rect">
            <a:avLst/>
          </a:prstGeom>
          <a:noFill/>
          <a:ln/>
        </p:spPr>
        <p:txBody>
          <a:bodyPr wrap="square" lIns="0" tIns="0" rIns="0" bIns="0" rtlCol="0" anchor="t"/>
          <a:lstStyle/>
          <a:p>
            <a:pPr indent="0" marL="0">
              <a:buNone/>
            </a:pPr>
            <a:r>
              <a:rPr lang="en-US" sz="1050" dirty="0">
                <a:solidFill>
                  <a:schemeClr val="bg2"/>
                </a:solidFill>
              </a:rPr>
              <a:t>GHCR multi-arch manifest, Trivy on both images</a:t>
            </a:r>
            <a:endParaRPr lang="en-US" sz="1050" dirty="0"/>
          </a:p>
        </p:txBody>
      </p:sp>
      <p:sp>
        <p:nvSpPr>
          <p:cNvPr id="15" name="tag 4"/>
          <p:cNvSpPr/>
          <p:nvPr/>
        </p:nvSpPr>
        <p:spPr>
          <a:xfrm>
            <a:off x="457200" y="2468880"/>
            <a:ext cx="384048" cy="384048"/>
          </a:xfrm>
          <a:prstGeom prst="ellipse">
            <a:avLst/>
          </a:prstGeom>
          <a:solidFill>
            <a:srgbClr val="1FA68F"/>
          </a:solidFill>
          <a:ln w="12700">
            <a:solidFill>
              <a:srgbClr val="1FA68F"/>
            </a:solidFill>
            <a:prstDash val="solid"/>
          </a:ln>
        </p:spPr>
      </p:sp>
      <p:sp>
        <p:nvSpPr>
          <p:cNvPr id="16" name="tag label 4"/>
          <p:cNvSpPr txBox="1"/>
          <p:nvPr/>
        </p:nvSpPr>
        <p:spPr>
          <a:xfrm>
            <a:off x="457200" y="246888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7" name="demo title 4"/>
          <p:cNvSpPr txBox="1"/>
          <p:nvPr/>
        </p:nvSpPr>
        <p:spPr>
          <a:xfrm>
            <a:off x="960120" y="2468880"/>
            <a:ext cx="2148840" cy="384048"/>
          </a:xfrm>
          <a:prstGeom prst="rect">
            <a:avLst/>
          </a:prstGeom>
          <a:noFill/>
          <a:ln/>
        </p:spPr>
        <p:txBody>
          <a:bodyPr wrap="square" lIns="0" tIns="0" rIns="0" bIns="0" rtlCol="0" anchor="ctr"/>
          <a:lstStyle/>
          <a:p>
            <a:pPr indent="0" marL="0">
              <a:buNone/>
            </a:pPr>
            <a:r>
              <a:rPr lang="en-US" sz="1500" b="1" dirty="0">
                <a:solidFill>
                  <a:schemeClr val="bg1"/>
                </a:solidFill>
              </a:rPr>
              <a:t>Terraform</a:t>
            </a:r>
            <a:endParaRPr lang="en-US" sz="1500" dirty="0"/>
          </a:p>
        </p:txBody>
      </p:sp>
      <p:sp>
        <p:nvSpPr>
          <p:cNvPr id="18" name="demo body 4"/>
          <p:cNvSpPr txBox="1"/>
          <p:nvPr/>
        </p:nvSpPr>
        <p:spPr>
          <a:xfrm>
            <a:off x="960120" y="2880360"/>
            <a:ext cx="2148840" cy="777240"/>
          </a:xfrm>
          <a:prstGeom prst="rect">
            <a:avLst/>
          </a:prstGeom>
          <a:noFill/>
          <a:ln/>
        </p:spPr>
        <p:txBody>
          <a:bodyPr wrap="square" lIns="0" tIns="0" rIns="0" bIns="0" rtlCol="0" anchor="t"/>
          <a:lstStyle/>
          <a:p>
            <a:pPr indent="0" marL="0">
              <a:buNone/>
            </a:pPr>
            <a:r>
              <a:rPr lang="en-US" sz="1050" dirty="0">
                <a:solidFill>
                  <a:schemeClr val="bg2"/>
                </a:solidFill>
              </a:rPr>
              <a:t>init · validate · plan against LocalStack</a:t>
            </a:r>
            <a:endParaRPr lang="en-US" sz="1050" dirty="0"/>
          </a:p>
        </p:txBody>
      </p:sp>
      <p:sp>
        <p:nvSpPr>
          <p:cNvPr id="19" name="tag 5"/>
          <p:cNvSpPr/>
          <p:nvPr/>
        </p:nvSpPr>
        <p:spPr>
          <a:xfrm>
            <a:off x="3246120" y="2468880"/>
            <a:ext cx="384048" cy="384048"/>
          </a:xfrm>
          <a:prstGeom prst="ellipse">
            <a:avLst/>
          </a:prstGeom>
          <a:solidFill>
            <a:srgbClr val="E59F2B"/>
          </a:solidFill>
          <a:ln w="12700">
            <a:solidFill>
              <a:srgbClr val="E59F2B"/>
            </a:solidFill>
            <a:prstDash val="solid"/>
          </a:ln>
        </p:spPr>
      </p:sp>
      <p:sp>
        <p:nvSpPr>
          <p:cNvPr id="20" name="tag label 5"/>
          <p:cNvSpPr txBox="1"/>
          <p:nvPr/>
        </p:nvSpPr>
        <p:spPr>
          <a:xfrm>
            <a:off x="3246120" y="246888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1" name="demo title 5"/>
          <p:cNvSpPr txBox="1"/>
          <p:nvPr/>
        </p:nvSpPr>
        <p:spPr>
          <a:xfrm>
            <a:off x="3749040" y="2468880"/>
            <a:ext cx="2148840" cy="384048"/>
          </a:xfrm>
          <a:prstGeom prst="rect">
            <a:avLst/>
          </a:prstGeom>
          <a:noFill/>
          <a:ln/>
        </p:spPr>
        <p:txBody>
          <a:bodyPr wrap="square" lIns="0" tIns="0" rIns="0" bIns="0" rtlCol="0" anchor="ctr"/>
          <a:lstStyle/>
          <a:p>
            <a:pPr indent="0" marL="0">
              <a:buNone/>
            </a:pPr>
            <a:r>
              <a:rPr lang="en-US" sz="1500" b="1" dirty="0">
                <a:solidFill>
                  <a:schemeClr val="bg1"/>
                </a:solidFill>
              </a:rPr>
              <a:t>Kubernetes</a:t>
            </a:r>
            <a:endParaRPr lang="en-US" sz="1500" dirty="0"/>
          </a:p>
        </p:txBody>
      </p:sp>
      <p:sp>
        <p:nvSpPr>
          <p:cNvPr id="22" name="demo body 5"/>
          <p:cNvSpPr txBox="1"/>
          <p:nvPr/>
        </p:nvSpPr>
        <p:spPr>
          <a:xfrm>
            <a:off x="3749040" y="2880360"/>
            <a:ext cx="2148840" cy="777240"/>
          </a:xfrm>
          <a:prstGeom prst="rect">
            <a:avLst/>
          </a:prstGeom>
          <a:noFill/>
          <a:ln/>
        </p:spPr>
        <p:txBody>
          <a:bodyPr wrap="square" lIns="0" tIns="0" rIns="0" bIns="0" rtlCol="0" anchor="t"/>
          <a:lstStyle/>
          <a:p>
            <a:pPr indent="0" marL="0">
              <a:buNone/>
            </a:pPr>
            <a:r>
              <a:rPr lang="en-US" sz="1050" dirty="0">
                <a:solidFill>
                  <a:schemeClr val="bg2"/>
                </a:solidFill>
              </a:rPr>
              <a:t>pods, svc, helm list, Ingress hostname, HPA</a:t>
            </a:r>
            <a:endParaRPr lang="en-US" sz="1050" dirty="0"/>
          </a:p>
        </p:txBody>
      </p:sp>
      <p:sp>
        <p:nvSpPr>
          <p:cNvPr id="23" name="tag 6"/>
          <p:cNvSpPr/>
          <p:nvPr/>
        </p:nvSpPr>
        <p:spPr>
          <a:xfrm>
            <a:off x="6035040" y="2468880"/>
            <a:ext cx="384048" cy="384048"/>
          </a:xfrm>
          <a:prstGeom prst="ellipse">
            <a:avLst/>
          </a:prstGeom>
          <a:solidFill>
            <a:srgbClr val="1FA68F"/>
          </a:solidFill>
          <a:ln w="12700">
            <a:solidFill>
              <a:srgbClr val="1FA68F"/>
            </a:solidFill>
            <a:prstDash val="solid"/>
          </a:ln>
        </p:spPr>
      </p:sp>
      <p:sp>
        <p:nvSpPr>
          <p:cNvPr id="24" name="tag label 6"/>
          <p:cNvSpPr txBox="1"/>
          <p:nvPr/>
        </p:nvSpPr>
        <p:spPr>
          <a:xfrm>
            <a:off x="6035040" y="246888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5" name="demo title 6"/>
          <p:cNvSpPr txBox="1"/>
          <p:nvPr/>
        </p:nvSpPr>
        <p:spPr>
          <a:xfrm>
            <a:off x="6537960" y="2468880"/>
            <a:ext cx="2148840" cy="384048"/>
          </a:xfrm>
          <a:prstGeom prst="rect">
            <a:avLst/>
          </a:prstGeom>
          <a:noFill/>
          <a:ln/>
        </p:spPr>
        <p:txBody>
          <a:bodyPr wrap="square" lIns="0" tIns="0" rIns="0" bIns="0" rtlCol="0" anchor="ctr"/>
          <a:lstStyle/>
          <a:p>
            <a:pPr indent="0" marL="0">
              <a:buNone/>
            </a:pPr>
            <a:r>
              <a:rPr lang="en-US" sz="1500" b="1" dirty="0">
                <a:solidFill>
                  <a:schemeClr val="bg1"/>
                </a:solidFill>
              </a:rPr>
              <a:t>Observe + heal</a:t>
            </a:r>
            <a:endParaRPr lang="en-US" sz="1500" dirty="0"/>
          </a:p>
        </p:txBody>
      </p:sp>
      <p:sp>
        <p:nvSpPr>
          <p:cNvPr id="26" name="demo body 6"/>
          <p:cNvSpPr txBox="1"/>
          <p:nvPr/>
        </p:nvSpPr>
        <p:spPr>
          <a:xfrm>
            <a:off x="6537960" y="2880360"/>
            <a:ext cx="2148840" cy="777240"/>
          </a:xfrm>
          <a:prstGeom prst="rect">
            <a:avLst/>
          </a:prstGeom>
          <a:noFill/>
          <a:ln/>
        </p:spPr>
        <p:txBody>
          <a:bodyPr wrap="square" lIns="0" tIns="0" rIns="0" bIns="0" rtlCol="0" anchor="t"/>
          <a:lstStyle/>
          <a:p>
            <a:pPr indent="0" marL="0">
              <a:buNone/>
            </a:pPr>
            <a:r>
              <a:rPr lang="en-US" sz="1050" dirty="0">
                <a:solidFill>
                  <a:schemeClr val="bg2"/>
                </a:solidFill>
              </a:rPr>
              <a:t>Prometheus targets, Grafana, break an image tag, fix it, Argo CD self-heal</a:t>
            </a:r>
            <a:endParaRPr lang="en-US" sz="1050" dirty="0"/>
          </a:p>
        </p:txBody>
      </p:sp>
      <p:sp>
        <p:nvSpPr>
          <p:cNvPr id="27" name="links"/>
          <p:cNvSpPr txBox="1"/>
          <p:nvPr/>
        </p:nvSpPr>
        <p:spPr>
          <a:xfrm>
            <a:off x="457200" y="3977640"/>
            <a:ext cx="8229600" cy="640080"/>
          </a:xfrm>
          <a:prstGeom prst="rect">
            <a:avLst/>
          </a:prstGeom>
          <a:noFill/>
          <a:ln/>
        </p:spPr>
        <p:txBody>
          <a:bodyPr wrap="square" lIns="0" tIns="0" rIns="0" bIns="0" rtlCol="0" anchor="t"/>
          <a:lstStyle/>
          <a:p>
            <a:pPr indent="0" marL="0">
              <a:buNone/>
            </a:pPr>
            <a:r>
              <a:rPr lang="en-US" sz="1100" b="1" dirty="0">
                <a:solidFill>
                  <a:schemeClr val="accent1"/>
                </a:solidFill>
              </a:rPr>
              <a:t>Repo: </a:t>
            </a:r>
            <a:pPr indent="0" marL="0">
              <a:buNone/>
            </a:pPr>
            <a:r>
              <a:rPr lang="en-US" sz="1100" dirty="0">
                <a:solidFill>
                  <a:schemeClr val="bg2"/>
                </a:solidFill>
              </a:rPr>
              <a:t>github.com/kushaltalati/devops-heros → session21-python/kushal-24bcs10123   </a:t>
            </a:r>
            <a:pPr indent="0" marL="0">
              <a:buNone/>
            </a:pPr>
            <a:r>
              <a:rPr lang="en-US" sz="1100" b="1" dirty="0">
                <a:solidFill>
                  <a:schemeClr val="accent1"/>
                </a:solidFill>
              </a:rPr>
              <a:t>Green run: </a:t>
            </a:r>
            <a:pPr indent="0" marL="0">
              <a:buNone/>
            </a:pPr>
            <a:r>
              <a:rPr lang="en-US" sz="1100" dirty="0">
                <a:solidFill>
                  <a:schemeClr val="bg2"/>
                </a:solidFill>
              </a:rPr>
              <a:t>actions/runs/37665794354</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F1F4F8"/>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tudyTrack">
  <a:themeElements>
    <a:clrScheme name="StudyTrack">
      <a:dk1>
        <a:srgbClr val="0E1726"/>
      </a:dk1>
      <a:lt1>
        <a:srgbClr val="FFFFFF"/>
      </a:lt1>
      <a:dk2>
        <a:srgbClr val="4A5568"/>
      </a:dk2>
      <a:lt2>
        <a:srgbClr val="F1F4F8"/>
      </a:lt2>
      <a:accent1>
        <a:srgbClr val="E59F2B"/>
      </a:accent1>
      <a:accent2>
        <a:srgbClr val="1FA68F"/>
      </a:accent2>
      <a:accent3>
        <a:srgbClr val="D9534F"/>
      </a:accent3>
      <a:accent4>
        <a:srgbClr val="3B6EA5"/>
      </a:accent4>
      <a:accent5>
        <a:srgbClr val="8C6BBF"/>
      </a:accent5>
      <a:accent6>
        <a:srgbClr val="6B7A8F"/>
      </a:accent6>
      <a:hlink>
        <a:srgbClr val="1FA68F"/>
      </a:hlink>
      <a:folHlink>
        <a:srgbClr val="8C6BBF"/>
      </a:folHlink>
    </a:clrScheme>
    <a:fontScheme name="Study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StudyTrack – Final DevOps Project (Session 21)</dc:title>
  <dc:subject>DevOps Heroes – session 21 final project presentation</dc:subject>
  <dc:creator>Kushal Talati</dc:creator>
  <cp:lastModifiedBy>Kushal Talati</cp:lastModifiedBy>
  <cp:revision>1</cp:revision>
  <dcterms:created xsi:type="dcterms:W3CDTF">2026-10-23T12:34:10Z</dcterms:created>
  <dcterms:modified xsi:type="dcterms:W3CDTF">2026-10-23T12:34:10Z</dcterms:modified>
</cp:coreProperties>
</file>